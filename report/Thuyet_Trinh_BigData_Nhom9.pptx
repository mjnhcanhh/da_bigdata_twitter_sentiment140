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52C4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914400" y="1097280"/>
            <a:ext cx="10362895" cy="4663440"/>
          </a:xfrm>
          <a:prstGeom prst="roundRect">
            <a:avLst/>
          </a:prstGeom>
          <a:solidFill>
            <a:srgbClr val="1E3C64"/>
          </a:solidFill>
          <a:ln w="19050">
            <a:solidFill>
              <a:srgbClr val="2E75B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371600" y="1371600"/>
            <a:ext cx="9448495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1400" b="1">
                <a:solidFill>
                  <a:srgbClr val="92C5DE"/>
                </a:solidFill>
                <a:latin typeface="Arial"/>
              </a:defRPr>
            </a:pPr>
            <a:r>
              <a:t>BÁO CÁO ĐỒ ÁN HỌC PHẦN: NHẬP MÔN BIG DATA</a:t>
            </a:r>
          </a:p>
          <a:p>
            <a:pPr>
              <a:spcAft>
                <a:spcPts val="2000"/>
              </a:spcAft>
              <a:defRPr sz="2600" b="1">
                <a:solidFill>
                  <a:srgbClr val="FFFFFF"/>
                </a:solidFill>
                <a:latin typeface="Arial"/>
              </a:defRPr>
            </a:pPr>
            <a:r>
              <a:t>PHÂN TÍCH HÀNH VI ĐĂNG BÀI VÀ CẢM XÚC</a:t>
            </a:r>
            <a:br/>
            <a:r>
              <a:t>CỦA NGƯỜI DÙNG TRÊN TWITTER BẰNG APACHE SPARK</a:t>
            </a:r>
          </a:p>
          <a:p>
            <a:pPr>
              <a:defRPr sz="1300">
                <a:solidFill>
                  <a:srgbClr val="E0E0E0"/>
                </a:solidFill>
                <a:latin typeface="Arial"/>
              </a:defRPr>
            </a:pPr>
            <a:r>
              <a:t>Nhóm thực hiện: Nhóm 09</a:t>
            </a:r>
            <a:br/>
            <a:r>
              <a:t>• Sinh viên 1: Võ Minh Cảnh  —  MSSV: 2001230065</a:t>
            </a:r>
            <a:br/>
            <a:r>
              <a:t>• Sinh viên 2: Hồ Thị Thanh Nhã  —  MSSV: 2001230592</a:t>
            </a:r>
            <a:br/>
            <a:r>
              <a:t>Dữ liệu nghiên cứu: Sentiment140 Dataset (1.6 triệu tweet)  |  Môi trường: Apache Spark, HDFS Docker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515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2E75B6"/>
                </a:solidFill>
                <a:latin typeface="Arial"/>
              </a:defRPr>
            </a:pPr>
            <a:r>
              <a:t>ĐỒ ÁN MÔN: NHẬP MÔN BIG DATA — NHÓM 09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515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1F4E79"/>
                </a:solidFill>
                <a:latin typeface="Arial"/>
              </a:defRPr>
            </a:pPr>
            <a:r>
              <a:t>1. Bối cảnh và Tính cấp thiết của Đề tài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0"/>
            <a:ext cx="106984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888888"/>
                </a:solidFill>
                <a:latin typeface="Arial"/>
              </a:defRPr>
            </a:pPr>
            <a:r>
              <a:t>Phân tích Twitter với Apache Spark  |  Nhóm 9  |  Trang 2/25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463040"/>
            <a:ext cx="5120640" cy="4572000"/>
          </a:xfrm>
          <a:prstGeom prst="roundRect">
            <a:avLst/>
          </a:prstGeom>
          <a:solidFill>
            <a:srgbClr val="F4F7FA"/>
          </a:solidFill>
          <a:ln w="19050">
            <a:solidFill>
              <a:srgbClr val="D0DC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645920"/>
            <a:ext cx="475488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b="1" sz="1500">
                <a:solidFill>
                  <a:srgbClr val="1F4E79"/>
                </a:solidFill>
              </a:defRPr>
            </a:pPr>
            <a:r>
              <a:t>TẦM QUAN TRỌNG CỦA DỮ LIỆU TWITTER</a:t>
            </a:r>
          </a:p>
          <a:p>
            <a:pPr>
              <a:spcAft>
                <a:spcPts val="1000"/>
              </a:spcAft>
              <a:defRPr sz="1300">
                <a:latin typeface="Arial"/>
              </a:defRPr>
            </a:pPr>
            <a:r>
              <a:rPr b="1">
                <a:solidFill>
                  <a:srgbClr val="1F4E79"/>
                </a:solidFill>
              </a:rPr>
              <a:t>• Nguồn ý kiến công chúng khổng lồ: </a:t>
            </a:r>
            <a:r>
              <a:rPr>
                <a:solidFill>
                  <a:srgbClr val="333333"/>
                </a:solidFill>
              </a:rPr>
              <a:t>Mỗi ngày có hàng trăm triệu dòng tweet phản ánh ý kiến, thị hiếu và cảm xúc về sản phẩm, dịch vụ và sự kiện.</a:t>
            </a:r>
          </a:p>
          <a:p>
            <a:pPr>
              <a:spcAft>
                <a:spcPts val="1000"/>
              </a:spcAft>
              <a:defRPr sz="1300">
                <a:latin typeface="Arial"/>
              </a:defRPr>
            </a:pPr>
            <a:r>
              <a:rPr b="1">
                <a:solidFill>
                  <a:srgbClr val="1F4E79"/>
                </a:solidFill>
              </a:rPr>
              <a:t>• Ứng dụng doanh nghiệp: </a:t>
            </a:r>
            <a:r>
              <a:rPr>
                <a:solidFill>
                  <a:srgbClr val="333333"/>
                </a:solidFill>
              </a:rPr>
              <a:t>Hỗ trợ chăm sóc khách hàng, quản trị thương hiệu, phát hiện khủng hoảng truyền thông và nghiên cứu thị trường.</a:t>
            </a:r>
          </a:p>
          <a:p>
            <a:pPr>
              <a:spcAft>
                <a:spcPts val="1000"/>
              </a:spcAft>
              <a:defRPr sz="1300">
                <a:latin typeface="Arial"/>
              </a:defRPr>
            </a:pPr>
            <a:r>
              <a:rPr b="1">
                <a:solidFill>
                  <a:srgbClr val="1F4E79"/>
                </a:solidFill>
              </a:rPr>
              <a:t>• Tính tức thời: </a:t>
            </a:r>
            <a:r>
              <a:rPr>
                <a:solidFill>
                  <a:srgbClr val="333333"/>
                </a:solidFill>
              </a:rPr>
              <a:t>Dữ liệu được tạo ra liên tục đòi hỏi các giải pháp xử lý quy mô lớn và tốc độ cao.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7920" y="1463040"/>
            <a:ext cx="5212080" cy="4572000"/>
          </a:xfrm>
          <a:prstGeom prst="roundRect">
            <a:avLst/>
          </a:prstGeom>
          <a:solidFill>
            <a:srgbClr val="F4F7FA"/>
          </a:solidFill>
          <a:ln w="19050">
            <a:solidFill>
              <a:srgbClr val="D0DC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0" y="1645920"/>
            <a:ext cx="484632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b="1" sz="1500">
                <a:solidFill>
                  <a:srgbClr val="1F4E79"/>
                </a:solidFill>
              </a:defRPr>
            </a:pPr>
            <a:r>
              <a:t>GIẢI PHÁP CÔNG NGHỆ: APACHE SPARK</a:t>
            </a:r>
          </a:p>
          <a:p>
            <a:pPr>
              <a:spcAft>
                <a:spcPts val="1000"/>
              </a:spcAft>
              <a:defRPr sz="1300">
                <a:latin typeface="Arial"/>
              </a:defRPr>
            </a:pPr>
            <a:r>
              <a:rPr b="1">
                <a:solidFill>
                  <a:srgbClr val="1F4E79"/>
                </a:solidFill>
              </a:rPr>
              <a:t>• Khắc phục giới hạn đơn máy: </a:t>
            </a:r>
            <a:r>
              <a:rPr>
                <a:solidFill>
                  <a:srgbClr val="333333"/>
                </a:solidFill>
              </a:rPr>
              <a:t>Các công cụ truyền thống (Pandas, Excel, Scikit-learn) quá tải bộ nhớ RAM khi mở tệp hàng triệu bản ghi.</a:t>
            </a:r>
          </a:p>
          <a:p>
            <a:pPr>
              <a:spcAft>
                <a:spcPts val="1000"/>
              </a:spcAft>
              <a:defRPr sz="1300">
                <a:latin typeface="Arial"/>
              </a:defRPr>
            </a:pPr>
            <a:r>
              <a:rPr b="1">
                <a:solidFill>
                  <a:srgbClr val="1F4E79"/>
                </a:solidFill>
              </a:rPr>
              <a:t>• Xử lý In-Memory: </a:t>
            </a:r>
            <a:r>
              <a:rPr>
                <a:solidFill>
                  <a:srgbClr val="333333"/>
                </a:solidFill>
              </a:rPr>
              <a:t>Apache Spark tính toán trực tiếp trên bộ nhớ đệm, nhanh hơn Hadoop MapReduce từ 10 đến 100 lần.</a:t>
            </a:r>
          </a:p>
          <a:p>
            <a:pPr>
              <a:spcAft>
                <a:spcPts val="1000"/>
              </a:spcAft>
              <a:defRPr sz="1300">
                <a:latin typeface="Arial"/>
              </a:defRPr>
            </a:pPr>
            <a:r>
              <a:rPr b="1">
                <a:solidFill>
                  <a:srgbClr val="1F4E79"/>
                </a:solidFill>
              </a:rPr>
              <a:t>• Hệ sinh thái toàn diện: </a:t>
            </a:r>
            <a:r>
              <a:rPr>
                <a:solidFill>
                  <a:srgbClr val="333333"/>
                </a:solidFill>
              </a:rPr>
              <a:t>Tích hợp sẵn Spark SQL (truy vấn quan hệ) và Spark MLlib (học máy phân tán) trong một nền tảng duy nhất.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515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2E75B6"/>
                </a:solidFill>
                <a:latin typeface="Arial"/>
              </a:defRPr>
            </a:pPr>
            <a:r>
              <a:t>ĐỒ ÁN MÔN: NHẬP MÔN BIG DATA — NHÓM 09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515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1F4E79"/>
                </a:solidFill>
                <a:latin typeface="Arial"/>
              </a:defRPr>
            </a:pPr>
            <a:r>
              <a:t>2. Thách thức Big Data trong Đề tài (The 3V Challenges)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0"/>
            <a:ext cx="106984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888888"/>
                </a:solidFill>
                <a:latin typeface="Arial"/>
              </a:defRPr>
            </a:pPr>
            <a:r>
              <a:t>Phân tích Twitter với Apache Spark  |  Nhóm 9  |  Trang 3/25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463040"/>
            <a:ext cx="3383280" cy="4572000"/>
          </a:xfrm>
          <a:prstGeom prst="roundRect">
            <a:avLst/>
          </a:prstGeom>
          <a:solidFill>
            <a:srgbClr val="F4F7FA"/>
          </a:solidFill>
          <a:ln w="19050">
            <a:solidFill>
              <a:srgbClr val="D0DC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645920"/>
            <a:ext cx="301752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1300">
                <a:solidFill>
                  <a:srgbClr val="1F4E79"/>
                </a:solidFill>
              </a:defRPr>
            </a:pPr>
            <a:r>
              <a:t>VOLUME (Khối lượng lớn)</a:t>
            </a:r>
          </a:p>
          <a:p>
            <a:pPr>
              <a:spcAft>
                <a:spcPts val="1200"/>
              </a:spcAft>
              <a:defRPr b="1" sz="1100">
                <a:solidFill>
                  <a:srgbClr val="2E75B6"/>
                </a:solidFill>
              </a:defRPr>
            </a:pPr>
            <a:r>
              <a:t>1,600,000 Tweets</a:t>
            </a:r>
          </a:p>
          <a:p>
            <a:pPr>
              <a:spcAft>
                <a:spcPts val="800"/>
              </a:spcAft>
              <a:defRPr sz="1100">
                <a:latin typeface="Arial"/>
              </a:defRPr>
            </a:pPr>
            <a:r>
              <a:rPr b="1">
                <a:solidFill>
                  <a:srgbClr val="1F4E79"/>
                </a:solidFill>
              </a:rPr>
              <a:t>• Quy mô dòng: </a:t>
            </a:r>
            <a:r>
              <a:rPr>
                <a:solidFill>
                  <a:srgbClr val="333333"/>
                </a:solidFill>
              </a:rPr>
              <a:t>1.6 triệu bản ghi văn bản lịch sử.</a:t>
            </a:r>
          </a:p>
          <a:p>
            <a:pPr>
              <a:spcAft>
                <a:spcPts val="800"/>
              </a:spcAft>
              <a:defRPr sz="1100">
                <a:latin typeface="Arial"/>
              </a:defRPr>
            </a:pPr>
            <a:r>
              <a:rPr b="1">
                <a:solidFill>
                  <a:srgbClr val="1F4E79"/>
                </a:solidFill>
              </a:rPr>
              <a:t>• Bộ nhớ RAM: </a:t>
            </a:r>
            <a:r>
              <a:rPr>
                <a:solidFill>
                  <a:srgbClr val="333333"/>
                </a:solidFill>
              </a:rPr>
              <a:t>Vượt ngưỡng xử lý an toàn của Pandas trên máy tính cá nhân.</a:t>
            </a:r>
          </a:p>
          <a:p>
            <a:pPr>
              <a:spcAft>
                <a:spcPts val="800"/>
              </a:spcAft>
              <a:defRPr sz="1100">
                <a:latin typeface="Arial"/>
              </a:defRPr>
            </a:pPr>
            <a:r>
              <a:rPr b="1">
                <a:solidFill>
                  <a:srgbClr val="1F4E79"/>
                </a:solidFill>
              </a:rPr>
              <a:t>• Độ phức tạp I/O: </a:t>
            </a:r>
            <a:r>
              <a:rPr>
                <a:solidFill>
                  <a:srgbClr val="333333"/>
                </a:solidFill>
              </a:rPr>
              <a:t>Đọc/ghi CSV thô tốn nhiều băng thông ổ đĩa nếu không tối ưu hóa.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389120" y="1463040"/>
            <a:ext cx="3383280" cy="4572000"/>
          </a:xfrm>
          <a:prstGeom prst="roundRect">
            <a:avLst/>
          </a:prstGeom>
          <a:solidFill>
            <a:srgbClr val="F4F7FA"/>
          </a:solidFill>
          <a:ln w="19050">
            <a:solidFill>
              <a:srgbClr val="D0DC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0" y="1645920"/>
            <a:ext cx="301752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1300">
                <a:solidFill>
                  <a:srgbClr val="1F4E79"/>
                </a:solidFill>
              </a:defRPr>
            </a:pPr>
            <a:r>
              <a:t>VARIETY (Độ biến thiên &amp; Nhiễu)</a:t>
            </a:r>
          </a:p>
          <a:p>
            <a:pPr>
              <a:spcAft>
                <a:spcPts val="1200"/>
              </a:spcAft>
              <a:defRPr b="1" sz="1100">
                <a:solidFill>
                  <a:srgbClr val="2E75B6"/>
                </a:solidFill>
              </a:defRPr>
            </a:pPr>
            <a:r>
              <a:t>Dữ liệu văn bản phi cấu trúc</a:t>
            </a:r>
          </a:p>
          <a:p>
            <a:pPr>
              <a:spcAft>
                <a:spcPts val="800"/>
              </a:spcAft>
              <a:defRPr sz="1100">
                <a:latin typeface="Arial"/>
              </a:defRPr>
            </a:pPr>
            <a:r>
              <a:rPr b="1">
                <a:solidFill>
                  <a:srgbClr val="1F4E79"/>
                </a:solidFill>
              </a:rPr>
              <a:t>• Nhiễu văn bản: </a:t>
            </a:r>
            <a:r>
              <a:rPr>
                <a:solidFill>
                  <a:srgbClr val="333333"/>
                </a:solidFill>
              </a:rPr>
              <a:t>Chứa nhiều liên kết URL, thẻ @mention, biểu tượng cảm xúc, ký tự HTML lỗi.</a:t>
            </a:r>
          </a:p>
          <a:p>
            <a:pPr>
              <a:spcAft>
                <a:spcPts val="800"/>
              </a:spcAft>
              <a:defRPr sz="1100">
                <a:latin typeface="Arial"/>
              </a:defRPr>
            </a:pPr>
            <a:r>
              <a:rPr b="1">
                <a:solidFill>
                  <a:srgbClr val="1F4E79"/>
                </a:solidFill>
              </a:rPr>
              <a:t>• Định dạng ngày giờ: </a:t>
            </a:r>
            <a:r>
              <a:rPr>
                <a:solidFill>
                  <a:srgbClr val="333333"/>
                </a:solidFill>
              </a:rPr>
              <a:t>Chuỗi ngày Twitter chứa múi giờ PDT/EST cần chuẩn hóa về UTC.</a:t>
            </a:r>
          </a:p>
          <a:p>
            <a:pPr>
              <a:spcAft>
                <a:spcPts val="800"/>
              </a:spcAft>
              <a:defRPr sz="1100">
                <a:latin typeface="Arial"/>
              </a:defRPr>
            </a:pPr>
            <a:r>
              <a:rPr b="1">
                <a:solidFill>
                  <a:srgbClr val="1F4E79"/>
                </a:solidFill>
              </a:rPr>
              <a:t>• Trùng lặp &amp; mâu thuẫn: </a:t>
            </a:r>
            <a:r>
              <a:rPr>
                <a:solidFill>
                  <a:srgbClr val="333333"/>
                </a:solidFill>
              </a:rPr>
              <a:t>Xuất hiện tweet trùng ID và các câu trùng nội dung nhưng khác nhãn.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046720" y="1463040"/>
            <a:ext cx="3383280" cy="4572000"/>
          </a:xfrm>
          <a:prstGeom prst="roundRect">
            <a:avLst/>
          </a:prstGeom>
          <a:solidFill>
            <a:srgbClr val="F4F7FA"/>
          </a:solidFill>
          <a:ln w="19050">
            <a:solidFill>
              <a:srgbClr val="D0DC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29600" y="1645920"/>
            <a:ext cx="301752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1300">
                <a:solidFill>
                  <a:srgbClr val="1F4E79"/>
                </a:solidFill>
              </a:defRPr>
            </a:pPr>
            <a:r>
              <a:t>VELOCITY (Tốc độ &amp; Hiệu năng)</a:t>
            </a:r>
          </a:p>
          <a:p>
            <a:pPr>
              <a:spcAft>
                <a:spcPts val="1200"/>
              </a:spcAft>
              <a:defRPr b="1" sz="1100">
                <a:solidFill>
                  <a:srgbClr val="2E75B6"/>
                </a:solidFill>
              </a:defRPr>
            </a:pPr>
            <a:r>
              <a:t>Xử lý &amp; Suy luận phân tán</a:t>
            </a:r>
          </a:p>
          <a:p>
            <a:pPr>
              <a:spcAft>
                <a:spcPts val="800"/>
              </a:spcAft>
              <a:defRPr sz="1100">
                <a:latin typeface="Arial"/>
              </a:defRPr>
            </a:pPr>
            <a:r>
              <a:rPr b="1">
                <a:solidFill>
                  <a:srgbClr val="1F4E79"/>
                </a:solidFill>
              </a:rPr>
              <a:t>• Huấn luyện phân tán: </a:t>
            </a:r>
            <a:r>
              <a:rPr>
                <a:solidFill>
                  <a:srgbClr val="333333"/>
                </a:solidFill>
              </a:rPr>
              <a:t>Trích xuất 32,768 đặc trưng TF-IDF song song trên toàn bộ tập dữ liệu.</a:t>
            </a:r>
          </a:p>
          <a:p>
            <a:pPr>
              <a:spcAft>
                <a:spcPts val="800"/>
              </a:spcAft>
              <a:defRPr sz="1100">
                <a:latin typeface="Arial"/>
              </a:defRPr>
            </a:pPr>
            <a:r>
              <a:rPr b="1">
                <a:solidFill>
                  <a:srgbClr val="1F4E79"/>
                </a:solidFill>
              </a:rPr>
              <a:t>• Tối ưu hóa Caching: </a:t>
            </a:r>
            <a:r>
              <a:rPr>
                <a:solidFill>
                  <a:srgbClr val="333333"/>
                </a:solidFill>
              </a:rPr>
              <a:t>Cần cơ chế Spark Cache để tăng tốc các phép toán lặp lại.</a:t>
            </a:r>
          </a:p>
          <a:p>
            <a:pPr>
              <a:spcAft>
                <a:spcPts val="800"/>
              </a:spcAft>
              <a:defRPr sz="1100">
                <a:latin typeface="Arial"/>
              </a:defRPr>
            </a:pPr>
            <a:r>
              <a:rPr b="1">
                <a:solidFill>
                  <a:srgbClr val="1F4E79"/>
                </a:solidFill>
              </a:rPr>
              <a:t>• Tốc độ truy vấn: </a:t>
            </a:r>
            <a:r>
              <a:rPr>
                <a:solidFill>
                  <a:srgbClr val="333333"/>
                </a:solidFill>
              </a:rPr>
              <a:t>Yêu cầu định dạng lưu trữ cột (Parquet) để truy vấn tức thì.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515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2E75B6"/>
                </a:solidFill>
                <a:latin typeface="Arial"/>
              </a:defRPr>
            </a:pPr>
            <a:r>
              <a:t>ĐỒ ÁN MÔN: NHẬP MÔN BIG DATA — NHÓM 09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515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1F4E79"/>
                </a:solidFill>
                <a:latin typeface="Arial"/>
              </a:defRPr>
            </a:pPr>
            <a:r>
              <a:t>3. Mục tiêu và Phạm vi Nghiên cứu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0"/>
            <a:ext cx="106984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888888"/>
                </a:solidFill>
                <a:latin typeface="Arial"/>
              </a:defRPr>
            </a:pPr>
            <a:r>
              <a:t>Phân tích Twitter với Apache Spark  |  Nhóm 9  |  Trang 4/25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463040"/>
            <a:ext cx="10728655" cy="777240"/>
          </a:xfrm>
          <a:prstGeom prst="roundRect">
            <a:avLst/>
          </a:prstGeom>
          <a:solidFill>
            <a:srgbClr val="F4F7FA"/>
          </a:solidFill>
          <a:ln w="19050">
            <a:solidFill>
              <a:srgbClr val="D0DC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536192"/>
            <a:ext cx="103327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1300">
                <a:solidFill>
                  <a:srgbClr val="1F4E79"/>
                </a:solidFill>
              </a:defRPr>
            </a:pPr>
            <a:r>
              <a:t>Mục tiêu 1: Xây dựng Big Data Pipeline khép kín</a:t>
            </a:r>
          </a:p>
          <a:p>
            <a:pPr>
              <a:defRPr sz="1100">
                <a:solidFill>
                  <a:srgbClr val="222222"/>
                </a:solidFill>
              </a:defRPr>
            </a:pPr>
            <a:r>
              <a:t>Thiết kế luồng Batch Ingestion -&gt; HDFS / Parquet -&gt; Spark Engine -&gt; Serving (SQL, ML, GUI) hoàn chỉnh, chạy ổn định từ đầu đến cuối.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2377440"/>
            <a:ext cx="10728655" cy="777240"/>
          </a:xfrm>
          <a:prstGeom prst="roundRect">
            <a:avLst/>
          </a:prstGeom>
          <a:solidFill>
            <a:srgbClr val="F4F7FA"/>
          </a:solidFill>
          <a:ln w="19050">
            <a:solidFill>
              <a:srgbClr val="D0DC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2450592"/>
            <a:ext cx="103327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1300">
                <a:solidFill>
                  <a:srgbClr val="1F4E79"/>
                </a:solidFill>
              </a:defRPr>
            </a:pPr>
            <a:r>
              <a:t>Mục tiêu 2: Phân tích hành vi người dùng (EDA với Spark SQL)</a:t>
            </a:r>
          </a:p>
          <a:p>
            <a:pPr>
              <a:defRPr sz="1100">
                <a:solidFill>
                  <a:srgbClr val="222222"/>
                </a:solidFill>
              </a:defRPr>
            </a:pPr>
            <a:r>
              <a:t>Khám phá chu kỳ đăng bài theo ngày, mật độ theo 24 giờ UTC, phân bố người dùng tích cực và trích xuất từ khóa phân hóa cảm xúc.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3291840"/>
            <a:ext cx="10728655" cy="777240"/>
          </a:xfrm>
          <a:prstGeom prst="roundRect">
            <a:avLst/>
          </a:prstGeom>
          <a:solidFill>
            <a:srgbClr val="F4F7FA"/>
          </a:solidFill>
          <a:ln w="19050">
            <a:solidFill>
              <a:srgbClr val="D0DC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3364992"/>
            <a:ext cx="103327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1300">
                <a:solidFill>
                  <a:srgbClr val="1F4E79"/>
                </a:solidFill>
              </a:defRPr>
            </a:pPr>
            <a:r>
              <a:t>Mục tiêu 3: Huấn luyện mô hình phân loại cảm xúc (Spark MLlib)</a:t>
            </a:r>
          </a:p>
          <a:p>
            <a:pPr>
              <a:defRPr sz="1100">
                <a:solidFill>
                  <a:srgbClr val="222222"/>
                </a:solidFill>
              </a:defRPr>
            </a:pPr>
            <a:r>
              <a:t>Xây dựng pipeline TF-IDF + Logistic Regression (có tuning siêu tham số), đối chứng với Naive Bayes và Majority Class Baseline.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31520" y="4206240"/>
            <a:ext cx="10728655" cy="777240"/>
          </a:xfrm>
          <a:prstGeom prst="roundRect">
            <a:avLst/>
          </a:prstGeom>
          <a:solidFill>
            <a:srgbClr val="F4F7FA"/>
          </a:solidFill>
          <a:ln w="19050">
            <a:solidFill>
              <a:srgbClr val="D0DC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14400" y="4279392"/>
            <a:ext cx="103327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1300">
                <a:solidFill>
                  <a:srgbClr val="1F4E79"/>
                </a:solidFill>
              </a:defRPr>
            </a:pPr>
            <a:r>
              <a:t>Mục tiêu 4: Thực nghiệm đo lường hiệu năng hạ tầng Big Data</a:t>
            </a:r>
          </a:p>
          <a:p>
            <a:pPr>
              <a:defRPr sz="1100">
                <a:solidFill>
                  <a:srgbClr val="222222"/>
                </a:solidFill>
              </a:defRPr>
            </a:pPr>
            <a:r>
              <a:t>Đo đạc thực tế lợi ích của Spark Cache (so sánh 3 mức dữ liệu) và chứng minh ưu thế vượt trội của định dạng Parquet so với CSV.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31520" y="5120640"/>
            <a:ext cx="10728655" cy="777240"/>
          </a:xfrm>
          <a:prstGeom prst="roundRect">
            <a:avLst/>
          </a:prstGeom>
          <a:solidFill>
            <a:srgbClr val="F4F7FA"/>
          </a:solidFill>
          <a:ln w="19050">
            <a:solidFill>
              <a:srgbClr val="D0DC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14400" y="5193792"/>
            <a:ext cx="103327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1300">
                <a:solidFill>
                  <a:srgbClr val="1F4E79"/>
                </a:solidFill>
              </a:defRPr>
            </a:pPr>
            <a:r>
              <a:t>Mục tiêu 5: Xây dựng Desktop GUI &amp; Đảm bảo kiểm thử chất lượng</a:t>
            </a:r>
          </a:p>
          <a:p>
            <a:pPr>
              <a:defRPr sz="1100">
                <a:solidFill>
                  <a:srgbClr val="222222"/>
                </a:solidFill>
              </a:defRPr>
            </a:pPr>
            <a:r>
              <a:t>Phát triển giao diện tương tác chọn nguồn Local/HDFS, demo suy luận tweet trực tiếp và thiết lập bộ 13 Unit Tests hồi quy tự động.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515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2E75B6"/>
                </a:solidFill>
                <a:latin typeface="Arial"/>
              </a:defRPr>
            </a:pPr>
            <a:r>
              <a:t>ĐỒ ÁN MÔN: NHẬP MÔN BIG DATA — NHÓM 09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515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1F4E79"/>
                </a:solidFill>
                <a:latin typeface="Arial"/>
              </a:defRPr>
            </a:pPr>
            <a:r>
              <a:t>4. Kiến trúc Tổng thể Hệ thống (Big Data Pipeline)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0"/>
            <a:ext cx="106984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888888"/>
                </a:solidFill>
                <a:latin typeface="Arial"/>
              </a:defRPr>
            </a:pPr>
            <a:r>
              <a:t>Phân tích Twitter với Apache Spark  |  Nhóm 9  |  Trang 5/25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2011680" cy="4114800"/>
          </a:xfrm>
          <a:prstGeom prst="roundRect">
            <a:avLst/>
          </a:prstGeom>
          <a:solidFill>
            <a:srgbClr val="F4F7FA"/>
          </a:solidFill>
          <a:ln w="19050">
            <a:solidFill>
              <a:srgbClr val="1F4E7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60" y="1828800"/>
            <a:ext cx="18288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b="1" sz="1300">
                <a:solidFill>
                  <a:srgbClr val="1F4E79"/>
                </a:solidFill>
              </a:defRPr>
            </a:pPr>
            <a:r>
              <a:t>1. SOURCES</a:t>
            </a:r>
          </a:p>
          <a:p>
            <a:pPr>
              <a:defRPr sz="1100">
                <a:solidFill>
                  <a:srgbClr val="222222"/>
                </a:solidFill>
              </a:defRPr>
            </a:pPr>
            <a:r>
              <a:t>Tệp CSV Sentiment140</a:t>
            </a:r>
            <a:br/>
            <a:r>
              <a:t>• 1.6 triệu bài đăng</a:t>
            </a:r>
            <a:br/>
            <a:r>
              <a:t>• 238 MB dữ liệu thô</a:t>
            </a:r>
            <a:br/>
            <a:r>
              <a:t>• Mã hóa ISO-8859-1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926080" y="1645920"/>
            <a:ext cx="2011680" cy="4114800"/>
          </a:xfrm>
          <a:prstGeom prst="roundRect">
            <a:avLst/>
          </a:prstGeom>
          <a:solidFill>
            <a:srgbClr val="F4F7FA"/>
          </a:solidFill>
          <a:ln w="19050">
            <a:solidFill>
              <a:srgbClr val="1F4E7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017520" y="1828800"/>
            <a:ext cx="18288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b="1" sz="1300">
                <a:solidFill>
                  <a:srgbClr val="1F4E79"/>
                </a:solidFill>
              </a:defRPr>
            </a:pPr>
            <a:r>
              <a:t>2. INGESTION</a:t>
            </a:r>
          </a:p>
          <a:p>
            <a:pPr>
              <a:defRPr sz="1100">
                <a:solidFill>
                  <a:srgbClr val="222222"/>
                </a:solidFill>
              </a:defRPr>
            </a:pPr>
            <a:r>
              <a:t>Batch Ingestion</a:t>
            </a:r>
            <a:br/>
            <a:r>
              <a:t>• Script PowerShell nạp tệp</a:t>
            </a:r>
            <a:br/>
            <a:r>
              <a:t>• Spark DataFrame Reader</a:t>
            </a:r>
            <a:br/>
            <a:r>
              <a:t>• Áp đặt Schema cố định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120640" y="1645920"/>
            <a:ext cx="2011680" cy="4114800"/>
          </a:xfrm>
          <a:prstGeom prst="roundRect">
            <a:avLst/>
          </a:prstGeom>
          <a:solidFill>
            <a:srgbClr val="F4F7FA"/>
          </a:solidFill>
          <a:ln w="19050">
            <a:solidFill>
              <a:srgbClr val="1F4E7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212080" y="1828800"/>
            <a:ext cx="18288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b="1" sz="1300">
                <a:solidFill>
                  <a:srgbClr val="1F4E79"/>
                </a:solidFill>
              </a:defRPr>
            </a:pPr>
            <a:r>
              <a:t>3. STORAGE</a:t>
            </a:r>
          </a:p>
          <a:p>
            <a:pPr>
              <a:defRPr sz="1100">
                <a:solidFill>
                  <a:srgbClr val="222222"/>
                </a:solidFill>
              </a:defRPr>
            </a:pPr>
            <a:r>
              <a:t>HDFS &amp; Parquet</a:t>
            </a:r>
            <a:br/>
            <a:r>
              <a:t>• Cụm Hadoop 3.3.6 Docker</a:t>
            </a:r>
            <a:br/>
            <a:r>
              <a:t>• NameNode &amp; DataNode</a:t>
            </a:r>
            <a:br/>
            <a:r>
              <a:t>• Parquet nén Snappy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315199" y="1645920"/>
            <a:ext cx="2011680" cy="4114800"/>
          </a:xfrm>
          <a:prstGeom prst="roundRect">
            <a:avLst/>
          </a:prstGeom>
          <a:solidFill>
            <a:srgbClr val="F4F7FA"/>
          </a:solidFill>
          <a:ln w="19050">
            <a:solidFill>
              <a:srgbClr val="1F4E7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406639" y="1828800"/>
            <a:ext cx="18288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b="1" sz="1300">
                <a:solidFill>
                  <a:srgbClr val="1F4E79"/>
                </a:solidFill>
              </a:defRPr>
            </a:pPr>
            <a:r>
              <a:t>4. PROCESSING</a:t>
            </a:r>
          </a:p>
          <a:p>
            <a:pPr>
              <a:defRPr sz="1100">
                <a:solidFill>
                  <a:srgbClr val="222222"/>
                </a:solidFill>
              </a:defRPr>
            </a:pPr>
            <a:r>
              <a:t>Spark Engine</a:t>
            </a:r>
            <a:br/>
            <a:r>
              <a:t>• Làm sạch văn bản (Regex)</a:t>
            </a:r>
            <a:br/>
            <a:r>
              <a:t>• Lọc trùng &amp; chuẩn hóa UTC</a:t>
            </a:r>
            <a:br/>
            <a:r>
              <a:t>• MLlib TF-IDF &amp; Tuning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9509760" y="1645920"/>
            <a:ext cx="2011680" cy="4114800"/>
          </a:xfrm>
          <a:prstGeom prst="roundRect">
            <a:avLst/>
          </a:prstGeom>
          <a:solidFill>
            <a:srgbClr val="F4F7FA"/>
          </a:solidFill>
          <a:ln w="19050">
            <a:solidFill>
              <a:srgbClr val="1F4E7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601200" y="1828800"/>
            <a:ext cx="18288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b="1" sz="1300">
                <a:solidFill>
                  <a:srgbClr val="1F4E79"/>
                </a:solidFill>
              </a:defRPr>
            </a:pPr>
            <a:r>
              <a:t>5. SERVING</a:t>
            </a:r>
          </a:p>
          <a:p>
            <a:pPr>
              <a:defRPr sz="1100">
                <a:solidFill>
                  <a:srgbClr val="222222"/>
                </a:solidFill>
              </a:defRPr>
            </a:pPr>
            <a:r>
              <a:t>Đầu ra Ứng dụng</a:t>
            </a:r>
            <a:br/>
            <a:r>
              <a:t>• Bảng Spark SQL</a:t>
            </a:r>
            <a:br/>
            <a:r>
              <a:t>• 6 biểu đồ trực quan BI</a:t>
            </a:r>
            <a:br/>
            <a:r>
              <a:t>• Mô hình ML &amp; Desktop GUI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31520" y="5852160"/>
            <a:ext cx="10728655" cy="548640"/>
          </a:xfrm>
          <a:prstGeom prst="round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14400" y="5897880"/>
            <a:ext cx="103327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b="1" sz="1100">
                <a:solidFill>
                  <a:srgbClr val="FFFFFF"/>
                </a:solidFill>
              </a:defRPr>
            </a:pPr>
            <a:r>
              <a:t>LƯU Ý THỰC NGHIỆM: Đồ án triển khai chuẩn theo luồng BATCH PATH (Files -&gt; HDFS -&gt; Spark Batch -&gt; BI/ML/GUI).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515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2E75B6"/>
                </a:solidFill>
                <a:latin typeface="Arial"/>
              </a:defRPr>
            </a:pPr>
            <a:r>
              <a:t>ĐỒ ÁN MÔN: NHẬP MÔN BIG DATA — NHÓM 09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515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1F4E79"/>
                </a:solidFill>
                <a:latin typeface="Arial"/>
              </a:defRPr>
            </a:pPr>
            <a:r>
              <a:t>5. Tổng quan Bộ dữ liệu Sentiment140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0"/>
            <a:ext cx="106984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888888"/>
                </a:solidFill>
                <a:latin typeface="Arial"/>
              </a:defRPr>
            </a:pPr>
            <a:r>
              <a:t>Phân tích Twitter với Apache Spark  |  Nhóm 9  |  Trang 6/25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463040"/>
            <a:ext cx="5120640" cy="4572000"/>
          </a:xfrm>
          <a:prstGeom prst="roundRect">
            <a:avLst/>
          </a:prstGeom>
          <a:solidFill>
            <a:srgbClr val="F4F7FA"/>
          </a:solidFill>
          <a:ln w="19050">
            <a:solidFill>
              <a:srgbClr val="D0DC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645920"/>
            <a:ext cx="475488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b="1" sz="1400">
                <a:solidFill>
                  <a:srgbClr val="1F4E79"/>
                </a:solidFill>
              </a:defRPr>
            </a:pPr>
            <a:r>
              <a:t>THÔNG TIN TỔNG QUÁT</a:t>
            </a:r>
          </a:p>
          <a:p>
            <a:pPr>
              <a:spcAft>
                <a:spcPts val="1000"/>
              </a:spcAft>
              <a:defRPr sz="1300">
                <a:latin typeface="Arial"/>
              </a:defRPr>
            </a:pPr>
            <a:r>
              <a:rPr b="1">
                <a:solidFill>
                  <a:srgbClr val="1F4E79"/>
                </a:solidFill>
              </a:rPr>
              <a:t>• Đơn vị phát triển: </a:t>
            </a:r>
            <a:r>
              <a:rPr>
                <a:solidFill>
                  <a:srgbClr val="333333"/>
                </a:solidFill>
              </a:rPr>
              <a:t>Nhóm nghiên cứu thuộc Đại học Stanford (Go, Bhayani &amp; Huang).</a:t>
            </a:r>
          </a:p>
          <a:p>
            <a:pPr>
              <a:spcAft>
                <a:spcPts val="1000"/>
              </a:spcAft>
              <a:defRPr sz="1300">
                <a:latin typeface="Arial"/>
              </a:defRPr>
            </a:pPr>
            <a:r>
              <a:rPr b="1">
                <a:solidFill>
                  <a:srgbClr val="1F4E79"/>
                </a:solidFill>
              </a:rPr>
              <a:t>• Cơ chế gán nhãn: </a:t>
            </a:r>
            <a:r>
              <a:rPr>
                <a:solidFill>
                  <a:srgbClr val="333333"/>
                </a:solidFill>
              </a:rPr>
              <a:t>Gán nhãn tự động dựa trên biểu tượng cảm xúc (Emoticons) trong bài đăng (ví dụ :) và :().</a:t>
            </a:r>
          </a:p>
          <a:p>
            <a:pPr>
              <a:spcAft>
                <a:spcPts val="1000"/>
              </a:spcAft>
              <a:defRPr sz="1300">
                <a:latin typeface="Arial"/>
              </a:defRPr>
            </a:pPr>
            <a:r>
              <a:rPr b="1">
                <a:solidFill>
                  <a:srgbClr val="1F4E79"/>
                </a:solidFill>
              </a:rPr>
              <a:t>• Quy mô: </a:t>
            </a:r>
            <a:r>
              <a:rPr>
                <a:solidFill>
                  <a:srgbClr val="333333"/>
                </a:solidFill>
              </a:rPr>
              <a:t>1,600,000 dòng dữ liệu văn bản tweet tiếng Anh.</a:t>
            </a:r>
          </a:p>
          <a:p>
            <a:pPr>
              <a:spcAft>
                <a:spcPts val="1000"/>
              </a:spcAft>
              <a:defRPr sz="1300">
                <a:latin typeface="Arial"/>
              </a:defRPr>
            </a:pPr>
            <a:r>
              <a:rPr b="1">
                <a:solidFill>
                  <a:srgbClr val="1F4E79"/>
                </a:solidFill>
              </a:rPr>
              <a:t>• Mã hóa ký tự: </a:t>
            </a:r>
            <a:r>
              <a:rPr>
                <a:solidFill>
                  <a:srgbClr val="333333"/>
                </a:solidFill>
              </a:rPr>
              <a:t>ISO-8859-1 (cần xử lý chuẩn hóa sang UTF-8).</a:t>
            </a:r>
          </a:p>
          <a:p>
            <a:pPr>
              <a:spcAft>
                <a:spcPts val="1000"/>
              </a:spcAft>
              <a:defRPr sz="1300">
                <a:latin typeface="Arial"/>
              </a:defRPr>
            </a:pPr>
            <a:r>
              <a:rPr b="1">
                <a:solidFill>
                  <a:srgbClr val="1F4E79"/>
                </a:solidFill>
              </a:rPr>
              <a:t>• Cân bằng nhãn gốc: </a:t>
            </a:r>
            <a:r>
              <a:rPr>
                <a:solidFill>
                  <a:srgbClr val="333333"/>
                </a:solidFill>
              </a:rPr>
              <a:t>800,000 mẫu tiêu cực (nhãn 0) và 800,000 mẫu tích cực (nhãn 4).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7920" y="1463040"/>
            <a:ext cx="5212080" cy="4572000"/>
          </a:xfrm>
          <a:prstGeom prst="roundRect">
            <a:avLst/>
          </a:prstGeom>
          <a:solidFill>
            <a:srgbClr val="F4F7FA"/>
          </a:solidFill>
          <a:ln w="19050">
            <a:solidFill>
              <a:srgbClr val="D0DC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0" y="1645920"/>
            <a:ext cx="484632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b="1" sz="1400">
                <a:solidFill>
                  <a:srgbClr val="1F4E79"/>
                </a:solidFill>
              </a:defRPr>
            </a:pPr>
            <a:r>
              <a:t>Ý NGHĨA KHOA HỌC &amp; GIỚI HẠN DỮ LIỆU</a:t>
            </a:r>
          </a:p>
          <a:p>
            <a:pPr>
              <a:spcAft>
                <a:spcPts val="1000"/>
              </a:spcAft>
              <a:defRPr sz="1300">
                <a:latin typeface="Arial"/>
              </a:defRPr>
            </a:pPr>
            <a:r>
              <a:rPr b="1">
                <a:solidFill>
                  <a:srgbClr val="1F4E79"/>
                </a:solidFill>
              </a:rPr>
              <a:t>• Ưu điểm: </a:t>
            </a:r>
            <a:r>
              <a:rPr>
                <a:solidFill>
                  <a:srgbClr val="333333"/>
                </a:solidFill>
              </a:rPr>
              <a:t>Quy mô dữ liệu chuẩn quốc tế cho bài toán phân tích cảm xúc Big Data; số lượng bài mẫu phong phú.</a:t>
            </a:r>
          </a:p>
          <a:p>
            <a:pPr>
              <a:spcAft>
                <a:spcPts val="1000"/>
              </a:spcAft>
              <a:defRPr sz="1300">
                <a:latin typeface="Arial"/>
              </a:defRPr>
            </a:pPr>
            <a:r>
              <a:rPr b="1">
                <a:solidFill>
                  <a:srgbClr val="1F4E79"/>
                </a:solidFill>
              </a:rPr>
              <a:t>• Đặc thù lịch sử: </a:t>
            </a:r>
            <a:r>
              <a:rPr>
                <a:solidFill>
                  <a:srgbClr val="333333"/>
                </a:solidFill>
              </a:rPr>
              <a:t>Thu thập năm 2009, phản ánh các chủ đề mạng xã hội thời kỳ đầu.</a:t>
            </a:r>
          </a:p>
          <a:p>
            <a:pPr>
              <a:spcAft>
                <a:spcPts val="1000"/>
              </a:spcAft>
              <a:defRPr sz="1300">
                <a:latin typeface="Arial"/>
              </a:defRPr>
            </a:pPr>
            <a:r>
              <a:rPr b="1">
                <a:solidFill>
                  <a:srgbClr val="1F4E79"/>
                </a:solidFill>
              </a:rPr>
              <a:t>• Giới hạn quan trọng: </a:t>
            </a:r>
            <a:r>
              <a:rPr>
                <a:solidFill>
                  <a:srgbClr val="333333"/>
                </a:solidFill>
              </a:rPr>
              <a:t>Bộ dữ liệu dùng nhãn vi mô dựa trên emoticon; kết quả mô hình phản ánh cấu trúc tập mẫu huấn luyện chứ không đại diện cho dư luận công chúng toàn cầu ở hiện tại.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515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2E75B6"/>
                </a:solidFill>
                <a:latin typeface="Arial"/>
              </a:defRPr>
            </a:pPr>
            <a:r>
              <a:t>ĐỒ ÁN MÔN: NHẬP MÔN BIG DATA — NHÓM 09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515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1F4E79"/>
                </a:solidFill>
                <a:latin typeface="Arial"/>
              </a:defRPr>
            </a:pPr>
            <a:r>
              <a:t>6. Cấu trúc 6 Trường Dữ liệu Thô (Raw Schema)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0"/>
            <a:ext cx="106984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888888"/>
                </a:solidFill>
                <a:latin typeface="Arial"/>
              </a:defRPr>
            </a:pPr>
            <a:r>
              <a:t>Phân tích Twitter với Apache Spark  |  Nhóm 9  |  Trang 7/25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731520" y="1463040"/>
          <a:ext cx="10728655" cy="43891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682163"/>
                <a:gridCol w="2682163"/>
                <a:gridCol w="2682163"/>
                <a:gridCol w="2682166"/>
              </a:tblGrid>
              <a:tr h="627017"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Arial"/>
                        </a:rPr>
                        <a:t>STT</a:t>
                      </a:r>
                    </a:p>
                  </a:txBody>
                  <a:tcPr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Arial"/>
                        </a:rPr>
                        <a:t>Tên trường</a:t>
                      </a:r>
                    </a:p>
                  </a:txBody>
                  <a:tcPr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Arial"/>
                        </a:rPr>
                        <a:t>Kiểu dữ liệu</a:t>
                      </a:r>
                    </a:p>
                  </a:txBody>
                  <a:tcPr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Arial"/>
                        </a:rPr>
                        <a:t>Ý nghĩa nghiệp vụ &amp; Dữ liệu mẫu</a:t>
                      </a:r>
                    </a:p>
                  </a:txBody>
                  <a:tcPr>
                    <a:solidFill>
                      <a:srgbClr val="1F4E79"/>
                    </a:solidFill>
                  </a:tcPr>
                </a:tc>
              </a:tr>
              <a:tr h="627017"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latin typeface="Arial"/>
                        </a:rPr>
                        <a:t>1</a:t>
                      </a:r>
                    </a:p>
                  </a:txBody>
                  <a:tcPr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latin typeface="Arial"/>
                        </a:rPr>
                        <a:t>target</a:t>
                      </a:r>
                    </a:p>
                  </a:txBody>
                  <a:tcPr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latin typeface="Arial"/>
                        </a:rPr>
                        <a:t>Integer</a:t>
                      </a:r>
                    </a:p>
                  </a:txBody>
                  <a:tcPr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latin typeface="Arial"/>
                        </a:rPr>
                        <a:t>Nhãn cảm xúc gốc: 0 = Tiêu cực, 4 = Tích cực.</a:t>
                      </a:r>
                    </a:p>
                  </a:txBody>
                  <a:tcPr>
                    <a:solidFill>
                      <a:srgbClr val="F4F7FA"/>
                    </a:solidFill>
                  </a:tcPr>
                </a:tc>
              </a:tr>
              <a:tr h="627017"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latin typeface="Arial"/>
                        </a:rPr>
                        <a:t>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latin typeface="Arial"/>
                        </a:rPr>
                        <a:t>id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latin typeface="Arial"/>
                        </a:rPr>
                        <a:t>Long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latin typeface="Arial"/>
                        </a:rPr>
                        <a:t>Mã định danh duy nhất của bài đăng (Tweet ID, ví dụ: 1467810369).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627017"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latin typeface="Arial"/>
                        </a:rPr>
                        <a:t>3</a:t>
                      </a:r>
                    </a:p>
                  </a:txBody>
                  <a:tcPr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latin typeface="Arial"/>
                        </a:rPr>
                        <a:t>date</a:t>
                      </a:r>
                    </a:p>
                  </a:txBody>
                  <a:tcPr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latin typeface="Arial"/>
                        </a:rPr>
                        <a:t>String</a:t>
                      </a:r>
                    </a:p>
                  </a:txBody>
                  <a:tcPr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latin typeface="Arial"/>
                        </a:rPr>
                        <a:t>Thời gian đăng bài của Twitter (Ví dụ: Mon Apr 06 22:19:45 PDT 2009).</a:t>
                      </a:r>
                    </a:p>
                  </a:txBody>
                  <a:tcPr>
                    <a:solidFill>
                      <a:srgbClr val="F4F7FA"/>
                    </a:solidFill>
                  </a:tcPr>
                </a:tc>
              </a:tr>
              <a:tr h="627017"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latin typeface="Arial"/>
                        </a:rPr>
                        <a:t>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latin typeface="Arial"/>
                        </a:rPr>
                        <a:t>flag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latin typeface="Arial"/>
                        </a:rPr>
                        <a:t>String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latin typeface="Arial"/>
                        </a:rPr>
                        <a:t>Cờ truy vấn dữ liệu từ API (Trong tập này luôn là NO_QUERY).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627017"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latin typeface="Arial"/>
                        </a:rPr>
                        <a:t>5</a:t>
                      </a:r>
                    </a:p>
                  </a:txBody>
                  <a:tcPr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latin typeface="Arial"/>
                        </a:rPr>
                        <a:t>user</a:t>
                      </a:r>
                    </a:p>
                  </a:txBody>
                  <a:tcPr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latin typeface="Arial"/>
                        </a:rPr>
                        <a:t>String</a:t>
                      </a:r>
                    </a:p>
                  </a:txBody>
                  <a:tcPr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latin typeface="Arial"/>
                        </a:rPr>
                        <a:t>Tên người dùng đăng tweet (Ví dụ: _TheSpecialOne_).</a:t>
                      </a:r>
                    </a:p>
                  </a:txBody>
                  <a:tcPr>
                    <a:solidFill>
                      <a:srgbClr val="F4F7FA"/>
                    </a:solidFill>
                  </a:tcPr>
                </a:tc>
              </a:tr>
              <a:tr h="627018"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latin typeface="Arial"/>
                        </a:rPr>
                        <a:t>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latin typeface="Arial"/>
                        </a:rPr>
                        <a:t>text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latin typeface="Arial"/>
                        </a:rPr>
                        <a:t>String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latin typeface="Arial"/>
                        </a:rPr>
                        <a:t>Nội dung văn bản tweet gốc chứa ký tự đặc biệt, link, mention, HTML entity.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515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2E75B6"/>
                </a:solidFill>
                <a:latin typeface="Arial"/>
              </a:defRPr>
            </a:pPr>
            <a:r>
              <a:t>ĐỒ ÁN MÔN: NHẬP MÔN BIG DATA — NHÓM 09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515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1F4E79"/>
                </a:solidFill>
                <a:latin typeface="Arial"/>
              </a:defRPr>
            </a:pPr>
            <a:r>
              <a:t>7. Quy trình Tiền xử lý &amp; Làm sạch Văn bản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0"/>
            <a:ext cx="106984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888888"/>
                </a:solidFill>
                <a:latin typeface="Arial"/>
              </a:defRPr>
            </a:pPr>
            <a:r>
              <a:t>Phân tích Twitter với Apache Spark  |  Nhóm 9  |  Trang 8/25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463040"/>
            <a:ext cx="5212080" cy="1371600"/>
          </a:xfrm>
          <a:prstGeom prst="roundRect">
            <a:avLst/>
          </a:prstGeom>
          <a:solidFill>
            <a:srgbClr val="F4F7FA"/>
          </a:solidFill>
          <a:ln w="19050">
            <a:solidFill>
              <a:srgbClr val="D0DC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600200"/>
            <a:ext cx="48463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1300">
                <a:solidFill>
                  <a:srgbClr val="1F4E79"/>
                </a:solidFill>
              </a:defRPr>
            </a:pPr>
            <a:r>
              <a:t>1. Khử trùng lặp ID bài đăng</a:t>
            </a:r>
          </a:p>
          <a:p>
            <a:pPr>
              <a:defRPr sz="1100">
                <a:solidFill>
                  <a:srgbClr val="222222"/>
                </a:solidFill>
              </a:defRPr>
            </a:pPr>
            <a:r>
              <a:t>Phát hiện và loại bỏ các dòng có Tweet ID trùng lặp (1,685 dòng trùng), đảm bảo tính toàn vẹn khóa chính.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7920" y="1463040"/>
            <a:ext cx="5212080" cy="1371600"/>
          </a:xfrm>
          <a:prstGeom prst="roundRect">
            <a:avLst/>
          </a:prstGeom>
          <a:solidFill>
            <a:srgbClr val="F4F7FA"/>
          </a:solidFill>
          <a:ln w="19050">
            <a:solidFill>
              <a:srgbClr val="D0DC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0" y="1600200"/>
            <a:ext cx="48463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1300">
                <a:solidFill>
                  <a:srgbClr val="1F4E79"/>
                </a:solidFill>
              </a:defRPr>
            </a:pPr>
            <a:r>
              <a:t>2. Chuẩn hóa nhãn nhị phân (Binary Mapping)</a:t>
            </a:r>
          </a:p>
          <a:p>
            <a:pPr>
              <a:defRPr sz="1100">
                <a:solidFill>
                  <a:srgbClr val="222222"/>
                </a:solidFill>
              </a:defRPr>
            </a:pPr>
            <a:r>
              <a:t>Chuyển nhãn 4 (Positive) thành 1, giữ nguyên nhãn 0 (Negative). Giúp thuận tiện cho hàm mất mát nhị phân trong Spark MLlib.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3017520"/>
            <a:ext cx="5212080" cy="1371600"/>
          </a:xfrm>
          <a:prstGeom prst="roundRect">
            <a:avLst/>
          </a:prstGeom>
          <a:solidFill>
            <a:srgbClr val="F4F7FA"/>
          </a:solidFill>
          <a:ln w="19050">
            <a:solidFill>
              <a:srgbClr val="D0DC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3154680"/>
            <a:ext cx="48463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1300">
                <a:solidFill>
                  <a:srgbClr val="1F4E79"/>
                </a:solidFill>
              </a:defRPr>
            </a:pPr>
            <a:r>
              <a:t>3. Giải mã thực thể HTML lỗi</a:t>
            </a:r>
          </a:p>
          <a:p>
            <a:pPr>
              <a:defRPr sz="1100">
                <a:solidFill>
                  <a:srgbClr val="222222"/>
                </a:solidFill>
              </a:defRPr>
            </a:pPr>
            <a:r>
              <a:t>Chuyển đổi các ký tự mã hóa URL/HTML như &amp;amp; -&gt; &amp;, &amp;lt; -&gt; &lt;, &amp;gt; -&gt; &gt; để khôi phục cấu trúc văn bản gốc.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17920" y="3017520"/>
            <a:ext cx="5212080" cy="1371600"/>
          </a:xfrm>
          <a:prstGeom prst="roundRect">
            <a:avLst/>
          </a:prstGeom>
          <a:solidFill>
            <a:srgbClr val="F4F7FA"/>
          </a:solidFill>
          <a:ln w="19050">
            <a:solidFill>
              <a:srgbClr val="D0DC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00800" y="3154680"/>
            <a:ext cx="48463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1300">
                <a:solidFill>
                  <a:srgbClr val="1F4E79"/>
                </a:solidFill>
              </a:defRPr>
            </a:pPr>
            <a:r>
              <a:t>4. Loại bỏ siêu liên kết (URLs)</a:t>
            </a:r>
          </a:p>
          <a:p>
            <a:pPr>
              <a:defRPr sz="1100">
                <a:solidFill>
                  <a:srgbClr val="222222"/>
                </a:solidFill>
              </a:defRPr>
            </a:pPr>
            <a:r>
              <a:t>Sử dụng biểu thức chính quy (Regex) quét và loại bỏ http://..., https://... vì không mang ý nghĩa cảm xúc.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31520" y="4572000"/>
            <a:ext cx="5212080" cy="1371600"/>
          </a:xfrm>
          <a:prstGeom prst="roundRect">
            <a:avLst/>
          </a:prstGeom>
          <a:solidFill>
            <a:srgbClr val="F4F7FA"/>
          </a:solidFill>
          <a:ln w="19050">
            <a:solidFill>
              <a:srgbClr val="D0DC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14400" y="4709160"/>
            <a:ext cx="48463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1300">
                <a:solidFill>
                  <a:srgbClr val="1F4E79"/>
                </a:solidFill>
              </a:defRPr>
            </a:pPr>
            <a:r>
              <a:t>5. Loại bỏ thẻ người dùng (@user)</a:t>
            </a:r>
          </a:p>
          <a:p>
            <a:pPr>
              <a:defRPr sz="1100">
                <a:solidFill>
                  <a:srgbClr val="222222"/>
                </a:solidFill>
              </a:defRPr>
            </a:pPr>
            <a:r>
              <a:t>Xóa các thẻ @username để mô hình tập trung vào nội dung biểu đạt thay vì phụ thuộc vào tên tài khoản người khác.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217920" y="4572000"/>
            <a:ext cx="5212080" cy="1371600"/>
          </a:xfrm>
          <a:prstGeom prst="roundRect">
            <a:avLst/>
          </a:prstGeom>
          <a:solidFill>
            <a:srgbClr val="F4F7FA"/>
          </a:solidFill>
          <a:ln w="19050">
            <a:solidFill>
              <a:srgbClr val="D0DC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00800" y="4709160"/>
            <a:ext cx="48463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1300">
                <a:solidFill>
                  <a:srgbClr val="1F4E79"/>
                </a:solidFill>
              </a:defRPr>
            </a:pPr>
            <a:r>
              <a:t>6. Chuẩn hóa thời gian sang UTC Timestamp</a:t>
            </a:r>
          </a:p>
          <a:p>
            <a:pPr>
              <a:defRPr sz="1100">
                <a:solidFill>
                  <a:srgbClr val="222222"/>
                </a:solidFill>
              </a:defRPr>
            </a:pPr>
            <a:r>
              <a:t>Phân tích cú pháp ngày giờ định dạng Twitter và chuyển đổi chuẩn về múi giờ UTC để phân tích thời gian thống nhất.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515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2E75B6"/>
                </a:solidFill>
                <a:latin typeface="Arial"/>
              </a:defRPr>
            </a:pPr>
            <a:r>
              <a:t>ĐỒ ÁN MÔN: NHẬP MÔN BIG DATA — NHÓM 09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515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1F4E79"/>
                </a:solidFill>
                <a:latin typeface="Arial"/>
              </a:defRPr>
            </a:pPr>
            <a:r>
              <a:t>8. Kết quả Kiểm soát Chất lượng (Data Quality)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0"/>
            <a:ext cx="106984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888888"/>
                </a:solidFill>
                <a:latin typeface="Arial"/>
              </a:defRPr>
            </a:pPr>
            <a:r>
              <a:t>Phân tích Twitter với Apache Spark  |  Nhóm 9  |  Trang 9/25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463040"/>
            <a:ext cx="2468880" cy="2011680"/>
          </a:xfrm>
          <a:prstGeom prst="roundRect">
            <a:avLst/>
          </a:prstGeom>
          <a:solidFill>
            <a:srgbClr val="F4F7FA"/>
          </a:solidFill>
          <a:ln w="19050">
            <a:solidFill>
              <a:srgbClr val="1F4E7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60" y="1645920"/>
            <a:ext cx="228600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b="1" sz="2200">
                <a:solidFill>
                  <a:srgbClr val="1F4E79"/>
                </a:solidFill>
              </a:defRPr>
            </a:pPr>
            <a:r>
              <a:t>1,600,000</a:t>
            </a:r>
          </a:p>
          <a:p>
            <a:pPr algn="ctr">
              <a:defRPr b="1" sz="1100">
                <a:solidFill>
                  <a:srgbClr val="2E75B6"/>
                </a:solidFill>
              </a:defRPr>
            </a:pPr>
            <a:r>
              <a:t>Tổng số dòng đầu vào</a:t>
            </a:r>
          </a:p>
          <a:p>
            <a:pPr algn="ctr">
              <a:defRPr sz="950">
                <a:solidFill>
                  <a:srgbClr val="222222"/>
                </a:solidFill>
              </a:defRPr>
            </a:pPr>
            <a:r>
              <a:t>Toàn bộ dữ liệu thô đọc từ Sentiment140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474720" y="1463040"/>
            <a:ext cx="2468880" cy="2011680"/>
          </a:xfrm>
          <a:prstGeom prst="roundRect">
            <a:avLst/>
          </a:prstGeom>
          <a:solidFill>
            <a:srgbClr val="F4F7FA"/>
          </a:solidFill>
          <a:ln w="19050">
            <a:solidFill>
              <a:srgbClr val="1F4E7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566160" y="1645920"/>
            <a:ext cx="228600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b="1" sz="2200">
                <a:solidFill>
                  <a:srgbClr val="1F4E79"/>
                </a:solidFill>
              </a:defRPr>
            </a:pPr>
            <a:r>
              <a:t>1,595,145</a:t>
            </a:r>
          </a:p>
          <a:p>
            <a:pPr algn="ctr">
              <a:defRPr b="1" sz="1100">
                <a:solidFill>
                  <a:srgbClr val="2E75B6"/>
                </a:solidFill>
              </a:defRPr>
            </a:pPr>
            <a:r>
              <a:t>Dòng hợp lệ sau làm sạch</a:t>
            </a:r>
          </a:p>
          <a:p>
            <a:pPr algn="ctr">
              <a:defRPr sz="950">
                <a:solidFill>
                  <a:srgbClr val="222222"/>
                </a:solidFill>
              </a:defRPr>
            </a:pPr>
            <a:r>
              <a:t>Tỷ lệ giữ lại đạt mức ấn tượng 99.70%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17920" y="1463040"/>
            <a:ext cx="2468880" cy="2011680"/>
          </a:xfrm>
          <a:prstGeom prst="roundRect">
            <a:avLst/>
          </a:prstGeom>
          <a:solidFill>
            <a:srgbClr val="F4F7FA"/>
          </a:solidFill>
          <a:ln w="19050">
            <a:solidFill>
              <a:srgbClr val="1F4E7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309360" y="1645920"/>
            <a:ext cx="228600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b="1" sz="2200">
                <a:solidFill>
                  <a:srgbClr val="1F4E79"/>
                </a:solidFill>
              </a:defRPr>
            </a:pPr>
            <a:r>
              <a:t>4,855</a:t>
            </a:r>
          </a:p>
          <a:p>
            <a:pPr algn="ctr">
              <a:defRPr b="1" sz="1100">
                <a:solidFill>
                  <a:srgbClr val="2E75B6"/>
                </a:solidFill>
              </a:defRPr>
            </a:pPr>
            <a:r>
              <a:t>Số dòng bị loại bỏ</a:t>
            </a:r>
          </a:p>
          <a:p>
            <a:pPr algn="ctr">
              <a:defRPr sz="950">
                <a:solidFill>
                  <a:srgbClr val="222222"/>
                </a:solidFill>
              </a:defRPr>
            </a:pPr>
            <a:r>
              <a:t>Bao gồm 1,685 dòng trùng ID và dòng lỗi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961120" y="1463040"/>
            <a:ext cx="2468880" cy="2011680"/>
          </a:xfrm>
          <a:prstGeom prst="roundRect">
            <a:avLst/>
          </a:prstGeom>
          <a:solidFill>
            <a:srgbClr val="F4F7FA"/>
          </a:solidFill>
          <a:ln w="19050">
            <a:solidFill>
              <a:srgbClr val="1F4E7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052560" y="1645920"/>
            <a:ext cx="228600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b="1" sz="2200">
                <a:solidFill>
                  <a:srgbClr val="1F4E79"/>
                </a:solidFill>
              </a:defRPr>
            </a:pPr>
            <a:r>
              <a:t>100%</a:t>
            </a:r>
          </a:p>
          <a:p>
            <a:pPr algn="ctr">
              <a:defRPr b="1" sz="1100">
                <a:solidFill>
                  <a:srgbClr val="2E75B6"/>
                </a:solidFill>
              </a:defRPr>
            </a:pPr>
            <a:r>
              <a:t>Tỷ lệ chuẩn hóa thời gian</a:t>
            </a:r>
          </a:p>
          <a:p>
            <a:pPr algn="ctr">
              <a:defRPr sz="950">
                <a:solidFill>
                  <a:srgbClr val="222222"/>
                </a:solidFill>
              </a:defRPr>
            </a:pPr>
            <a:r>
              <a:t>Chuyển đổi thành công 100% ngày giờ sang UTC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31520" y="3840480"/>
            <a:ext cx="10728655" cy="2194560"/>
          </a:xfrm>
          <a:prstGeom prst="roundRect">
            <a:avLst/>
          </a:prstGeom>
          <a:solidFill>
            <a:srgbClr val="F4F7FA"/>
          </a:solidFill>
          <a:ln w="19050">
            <a:solidFill>
              <a:srgbClr val="D0DC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14400" y="4023360"/>
            <a:ext cx="1033272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b="1" sz="1300">
                <a:solidFill>
                  <a:srgbClr val="1F4E79"/>
                </a:solidFill>
              </a:defRPr>
            </a:pPr>
            <a:r>
              <a:t>PHÂN BỐ NHÃN DỮ LIỆU SAU KHI LÀM SẠCH:</a:t>
            </a:r>
          </a:p>
          <a:p>
            <a:pPr>
              <a:spcAft>
                <a:spcPts val="1000"/>
              </a:spcAft>
              <a:defRPr sz="1300">
                <a:latin typeface="Arial"/>
              </a:defRPr>
            </a:pPr>
            <a:r>
              <a:rPr b="1">
                <a:solidFill>
                  <a:srgbClr val="1F4E79"/>
                </a:solidFill>
              </a:rPr>
              <a:t>• Nhãn Tiêu cực (0): </a:t>
            </a:r>
            <a:r>
              <a:rPr>
                <a:solidFill>
                  <a:srgbClr val="333333"/>
                </a:solidFill>
              </a:rPr>
              <a:t>798,387 dòng, chiếm 50.05% tổng số dòng hợp lệ.</a:t>
            </a:r>
          </a:p>
          <a:p>
            <a:pPr>
              <a:spcAft>
                <a:spcPts val="1000"/>
              </a:spcAft>
              <a:defRPr sz="1300">
                <a:latin typeface="Arial"/>
              </a:defRPr>
            </a:pPr>
            <a:r>
              <a:rPr b="1">
                <a:solidFill>
                  <a:srgbClr val="1F4E79"/>
                </a:solidFill>
              </a:rPr>
              <a:t>• Nhãn Tích cực (1): </a:t>
            </a:r>
            <a:r>
              <a:rPr>
                <a:solidFill>
                  <a:srgbClr val="333333"/>
                </a:solidFill>
              </a:rPr>
              <a:t>796,758 dòng, chiếm 49.95% tổng số dòng hợp lệ.</a:t>
            </a:r>
          </a:p>
          <a:p>
            <a:pPr>
              <a:spcAft>
                <a:spcPts val="1000"/>
              </a:spcAft>
              <a:defRPr sz="1300">
                <a:latin typeface="Arial"/>
              </a:defRPr>
            </a:pPr>
            <a:r>
              <a:rPr b="1">
                <a:solidFill>
                  <a:srgbClr val="1F4E79"/>
                </a:solidFill>
              </a:rPr>
              <a:t>• Kết luận cân bằng: </a:t>
            </a:r>
            <a:r>
              <a:rPr>
                <a:solidFill>
                  <a:srgbClr val="333333"/>
                </a:solidFill>
              </a:rPr>
              <a:t>Độ chênh lệch giữa hai lớp chỉ 0.1%, là điều kiện lý tưởng cho các thuật toán phân loại mà không cần kỹ thuật Oversampling hay Undersampling.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515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2E75B6"/>
                </a:solidFill>
                <a:latin typeface="Arial"/>
              </a:defRPr>
            </a:pPr>
            <a:r>
              <a:t>ĐỒ ÁN MÔN: NHẬP MÔN BIG DATA — NHÓM 09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515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1F4E79"/>
                </a:solidFill>
                <a:latin typeface="Arial"/>
              </a:defRPr>
            </a:pPr>
            <a:r>
              <a:t>9. Tầng Lưu trữ Phân tán: Hadoop HDFS trên Docker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0"/>
            <a:ext cx="106984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888888"/>
                </a:solidFill>
                <a:latin typeface="Arial"/>
              </a:defRPr>
            </a:pPr>
            <a:r>
              <a:t>Phân tích Twitter với Apache Spark  |  Nhóm 9  |  Trang 10/25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463040"/>
            <a:ext cx="5120640" cy="4572000"/>
          </a:xfrm>
          <a:prstGeom prst="roundRect">
            <a:avLst/>
          </a:prstGeom>
          <a:solidFill>
            <a:srgbClr val="F4F7FA"/>
          </a:solidFill>
          <a:ln w="19050">
            <a:solidFill>
              <a:srgbClr val="D0DC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645920"/>
            <a:ext cx="475488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b="1" sz="1400">
                <a:solidFill>
                  <a:srgbClr val="1F4E79"/>
                </a:solidFill>
              </a:defRPr>
            </a:pPr>
            <a:r>
              <a:t>KIẾN TRÚC CỤM HDFS MULTI-CONTAINER</a:t>
            </a:r>
          </a:p>
          <a:p>
            <a:pPr>
              <a:spcAft>
                <a:spcPts val="1000"/>
              </a:spcAft>
              <a:defRPr sz="1300">
                <a:latin typeface="Arial"/>
              </a:defRPr>
            </a:pPr>
            <a:r>
              <a:rPr b="1">
                <a:solidFill>
                  <a:srgbClr val="1F4E79"/>
                </a:solidFill>
              </a:rPr>
              <a:t>• Image chuẩn: </a:t>
            </a:r>
            <a:r>
              <a:rPr>
                <a:solidFill>
                  <a:srgbClr val="333333"/>
                </a:solidFill>
              </a:rPr>
              <a:t>apache/hadoop:3.3.6 (Nền tảng Linux container).</a:t>
            </a:r>
          </a:p>
          <a:p>
            <a:pPr>
              <a:spcAft>
                <a:spcPts val="1000"/>
              </a:spcAft>
              <a:defRPr sz="1300">
                <a:latin typeface="Arial"/>
              </a:defRPr>
            </a:pPr>
            <a:r>
              <a:rPr b="1">
                <a:solidFill>
                  <a:srgbClr val="1F4E79"/>
                </a:solidFill>
              </a:rPr>
              <a:t>• NameNode (Master): </a:t>
            </a:r>
            <a:r>
              <a:rPr>
                <a:solidFill>
                  <a:srgbClr val="333333"/>
                </a:solidFill>
              </a:rPr>
              <a:t>Quản lý metadata, namespace; mở cổng 8020 (RPC cho Spark) và 9870 (Web UI theo dõi tình trạng cluster).</a:t>
            </a:r>
          </a:p>
          <a:p>
            <a:pPr>
              <a:spcAft>
                <a:spcPts val="1000"/>
              </a:spcAft>
              <a:defRPr sz="1300">
                <a:latin typeface="Arial"/>
              </a:defRPr>
            </a:pPr>
            <a:r>
              <a:rPr b="1">
                <a:solidFill>
                  <a:srgbClr val="1F4E79"/>
                </a:solidFill>
              </a:rPr>
              <a:t>• DataNode (Worker): </a:t>
            </a:r>
            <a:r>
              <a:rPr>
                <a:solidFill>
                  <a:srgbClr val="333333"/>
                </a:solidFill>
              </a:rPr>
              <a:t>Lưu trữ các khối block dữ liệu phân tán; mở cổng 9864 và 9866.</a:t>
            </a:r>
          </a:p>
          <a:p>
            <a:pPr>
              <a:spcAft>
                <a:spcPts val="1000"/>
              </a:spcAft>
              <a:defRPr sz="1300">
                <a:latin typeface="Arial"/>
              </a:defRPr>
            </a:pPr>
            <a:r>
              <a:rPr b="1">
                <a:solidFill>
                  <a:srgbClr val="1F4E79"/>
                </a:solidFill>
              </a:rPr>
              <a:t>• Volume Persistent: </a:t>
            </a:r>
            <a:r>
              <a:rPr>
                <a:solidFill>
                  <a:srgbClr val="333333"/>
                </a:solidFill>
              </a:rPr>
              <a:t>Gắn kết namenode_data và datanode_data đảm bảo dữ liệu không bị mất khi khởi động lại container.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7920" y="1463040"/>
            <a:ext cx="5212080" cy="4572000"/>
          </a:xfrm>
          <a:prstGeom prst="roundRect">
            <a:avLst/>
          </a:prstGeom>
          <a:solidFill>
            <a:srgbClr val="F4F7FA"/>
          </a:solidFill>
          <a:ln w="19050">
            <a:solidFill>
              <a:srgbClr val="D0DC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0" y="1645920"/>
            <a:ext cx="484632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b="1" sz="1400">
                <a:solidFill>
                  <a:srgbClr val="1F4E79"/>
                </a:solidFill>
              </a:defRPr>
            </a:pPr>
            <a:r>
              <a:t>TỰ ĐỘNG HÓA VẬN HÀNH &amp; KẾT NỐI SPARK</a:t>
            </a:r>
          </a:p>
          <a:p>
            <a:pPr>
              <a:spcAft>
                <a:spcPts val="1000"/>
              </a:spcAft>
              <a:defRPr sz="1300">
                <a:latin typeface="Arial"/>
              </a:defRPr>
            </a:pPr>
            <a:r>
              <a:rPr b="1">
                <a:solidFill>
                  <a:srgbClr val="1F4E79"/>
                </a:solidFill>
              </a:rPr>
              <a:t>• Scripts tự động hóa: </a:t>
            </a:r>
            <a:r>
              <a:rPr>
                <a:solidFill>
                  <a:srgbClr val="333333"/>
                </a:solidFill>
              </a:rPr>
              <a:t>Bộ script PowerShell quản lý vòng đời cụm: hdfs_start.ps1, hdfs_upload.ps1, hdfs_status.ps1, hdfs_stop.ps1.</a:t>
            </a:r>
          </a:p>
          <a:p>
            <a:pPr>
              <a:spcAft>
                <a:spcPts val="1000"/>
              </a:spcAft>
              <a:defRPr sz="1300">
                <a:latin typeface="Arial"/>
              </a:defRPr>
            </a:pPr>
            <a:r>
              <a:rPr b="1">
                <a:solidFill>
                  <a:srgbClr val="1F4E79"/>
                </a:solidFill>
              </a:rPr>
              <a:t>• Khắc phục lỗi Windows: </a:t>
            </a:r>
            <a:r>
              <a:rPr>
                <a:solidFill>
                  <a:srgbClr val="333333"/>
                </a:solidFill>
              </a:rPr>
              <a:t>Loại bỏ hoàn toàn lỗi winutils.exe và thiếu thư viện native C++ thường gặp trên Windows bằng cách đóng gói trong Docker.</a:t>
            </a:r>
          </a:p>
          <a:p>
            <a:pPr>
              <a:spcAft>
                <a:spcPts val="1000"/>
              </a:spcAft>
              <a:defRPr sz="1300">
                <a:latin typeface="Arial"/>
              </a:defRPr>
            </a:pPr>
            <a:r>
              <a:rPr b="1">
                <a:solidFill>
                  <a:srgbClr val="1F4E79"/>
                </a:solidFill>
              </a:rPr>
              <a:t>• Đường dẫn URI kết nối: </a:t>
            </a:r>
            <a:r>
              <a:rPr>
                <a:solidFill>
                  <a:srgbClr val="333333"/>
                </a:solidFill>
              </a:rPr>
              <a:t>Dữ liệu được nạp vào đường dẫn HDFS chuẩn: hdfs://localhost:8020/twitter/raw/sentiment140.csv.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515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2E75B6"/>
                </a:solidFill>
                <a:latin typeface="Arial"/>
              </a:defRPr>
            </a:pPr>
            <a:r>
              <a:t>ĐỒ ÁN MÔN: NHẬP MÔN BIG DATA — NHÓM 09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515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1F4E79"/>
                </a:solidFill>
                <a:latin typeface="Arial"/>
              </a:defRPr>
            </a:pPr>
            <a:r>
              <a:t>10. So sánh Lưu trữ: CSV vs Apache Parquet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0"/>
            <a:ext cx="106984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888888"/>
                </a:solidFill>
                <a:latin typeface="Arial"/>
              </a:defRPr>
            </a:pPr>
            <a:r>
              <a:t>Phân tích Twitter với Apache Spark  |  Nhóm 9  |  Trang 11/25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731520" y="1463040"/>
          <a:ext cx="10728655" cy="20116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682163"/>
                <a:gridCol w="2682163"/>
                <a:gridCol w="2682163"/>
                <a:gridCol w="2682166"/>
              </a:tblGrid>
              <a:tr h="670560"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Arial"/>
                        </a:rPr>
                        <a:t>Định dạng tệp</a:t>
                      </a:r>
                    </a:p>
                  </a:txBody>
                  <a:tcPr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Arial"/>
                        </a:rPr>
                        <a:t>Thời gian đọc Spark</a:t>
                      </a:r>
                    </a:p>
                  </a:txBody>
                  <a:tcPr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Arial"/>
                        </a:rPr>
                        <a:t>Tỷ lệ tăng tốc</a:t>
                      </a:r>
                    </a:p>
                  </a:txBody>
                  <a:tcPr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Arial"/>
                        </a:rPr>
                        <a:t>Độ nén &amp; Tối ưu I/O</a:t>
                      </a:r>
                    </a:p>
                  </a:txBody>
                  <a:tcPr>
                    <a:solidFill>
                      <a:srgbClr val="1F4E79"/>
                    </a:solidFill>
                  </a:tcPr>
                </a:tc>
              </a:tr>
              <a:tr h="670560"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latin typeface="Arial"/>
                        </a:rPr>
                        <a:t>Raw CSV (ISO-8859-1)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latin typeface="Arial"/>
                        </a:rPr>
                        <a:t>11.461 giây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latin typeface="Arial"/>
                        </a:rPr>
                        <a:t>1.0x (Chuẩn đối chứng)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latin typeface="Arial"/>
                        </a:rPr>
                        <a:t>0% (Dữ liệu dạng dòng thuần túy)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670560"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latin typeface="Arial"/>
                        </a:rPr>
                        <a:t>Cleaned Parquet (Snappy)</a:t>
                      </a:r>
                    </a:p>
                  </a:txBody>
                  <a:tcPr>
                    <a:solidFill>
                      <a:srgbClr val="EAF2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latin typeface="Arial"/>
                        </a:rPr>
                        <a:t>0.303 giây</a:t>
                      </a:r>
                    </a:p>
                  </a:txBody>
                  <a:tcPr>
                    <a:solidFill>
                      <a:srgbClr val="EAF2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latin typeface="Arial"/>
                        </a:rPr>
                        <a:t>37.80x (Nhanh hơn)</a:t>
                      </a:r>
                    </a:p>
                  </a:txBody>
                  <a:tcPr>
                    <a:solidFill>
                      <a:srgbClr val="EAF2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latin typeface="Arial"/>
                        </a:rPr>
                        <a:t>Tối ưu nén dạng cột Snappy</a:t>
                      </a:r>
                    </a:p>
                  </a:txBody>
                  <a:tcPr>
                    <a:solidFill>
                      <a:srgbClr val="EAF2F8"/>
                    </a:solidFill>
                  </a:tcPr>
                </a:tc>
              </a:tr>
            </a:tbl>
          </a:graphicData>
        </a:graphic>
      </p:graphicFrame>
      <p:sp>
        <p:nvSpPr>
          <p:cNvPr id="6" name="Rounded Rectangle 5"/>
          <p:cNvSpPr/>
          <p:nvPr/>
        </p:nvSpPr>
        <p:spPr>
          <a:xfrm>
            <a:off x="731520" y="3840480"/>
            <a:ext cx="10728655" cy="2194560"/>
          </a:xfrm>
          <a:prstGeom prst="roundRect">
            <a:avLst/>
          </a:prstGeom>
          <a:solidFill>
            <a:srgbClr val="F4F7FA"/>
          </a:solidFill>
          <a:ln w="19050">
            <a:solidFill>
              <a:srgbClr val="D0DC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4023360"/>
            <a:ext cx="1033272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b="1" sz="1300">
                <a:solidFill>
                  <a:srgbClr val="1F4E79"/>
                </a:solidFill>
              </a:defRPr>
            </a:pPr>
            <a:r>
              <a:t>NGUYÊN NHÂN PARQUET ĐẠT HIỆU NĂNG VƯỢT TRỘI:</a:t>
            </a:r>
          </a:p>
          <a:p>
            <a:pPr>
              <a:spcAft>
                <a:spcPts val="1000"/>
              </a:spcAft>
              <a:defRPr sz="1300">
                <a:latin typeface="Arial"/>
              </a:defRPr>
            </a:pPr>
            <a:r>
              <a:rPr b="1">
                <a:solidFill>
                  <a:srgbClr val="1F4E79"/>
                </a:solidFill>
              </a:rPr>
              <a:t>• Lưu trữ định dạng cột (Columnar Storage): </a:t>
            </a:r>
            <a:r>
              <a:rPr>
                <a:solidFill>
                  <a:srgbClr val="333333"/>
                </a:solidFill>
              </a:rPr>
              <a:t>Spark chỉ cần đọc đúng các cột được truy vấn (projection pushdown), bỏ qua các cột không cần thiết thay vì phải scan toàn bộ dòng như CSV.</a:t>
            </a:r>
          </a:p>
          <a:p>
            <a:pPr>
              <a:spcAft>
                <a:spcPts val="1000"/>
              </a:spcAft>
              <a:defRPr sz="1300">
                <a:latin typeface="Arial"/>
              </a:defRPr>
            </a:pPr>
            <a:r>
              <a:rPr b="1">
                <a:solidFill>
                  <a:srgbClr val="1F4E79"/>
                </a:solidFill>
              </a:rPr>
              <a:t>• Nén khối thông minh (Snappy Compression): </a:t>
            </a:r>
            <a:r>
              <a:rPr>
                <a:solidFill>
                  <a:srgbClr val="333333"/>
                </a:solidFill>
              </a:rPr>
              <a:t>Các giá trị cùng kiểu dữ liệu đứng cạnh nhau giúp thuật toán nén đạt hiệu suất cao, giảm kích thước đĩa và giảm lượng dữ liệu truyền qua mạng.</a:t>
            </a:r>
          </a:p>
          <a:p>
            <a:pPr>
              <a:spcAft>
                <a:spcPts val="1000"/>
              </a:spcAft>
              <a:defRPr sz="1300">
                <a:latin typeface="Arial"/>
              </a:defRPr>
            </a:pPr>
            <a:r>
              <a:rPr b="1">
                <a:solidFill>
                  <a:srgbClr val="1F4E79"/>
                </a:solidFill>
              </a:rPr>
              <a:t>• Metadata tích hợp sẵn: </a:t>
            </a:r>
            <a:r>
              <a:rPr>
                <a:solidFill>
                  <a:srgbClr val="333333"/>
                </a:solidFill>
              </a:rPr>
              <a:t>Parquet lưu sẵn schema và số liệu thống kê (min, max per chunk), giúp bộ tối ưu Catalyst áp dụng Predicate Pushdown hiệu quả.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515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2E75B6"/>
                </a:solidFill>
                <a:latin typeface="Arial"/>
              </a:defRPr>
            </a:pPr>
            <a:r>
              <a:t>ĐỒ ÁN MÔN: NHẬP MÔN BIG DATA — NHÓM 09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515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1F4E79"/>
                </a:solidFill>
                <a:latin typeface="Arial"/>
              </a:defRPr>
            </a:pPr>
            <a:r>
              <a:t>11. Phân tích Khám phá Dữ liệu với Spark SQL (EDA)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0"/>
            <a:ext cx="106984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888888"/>
                </a:solidFill>
                <a:latin typeface="Arial"/>
              </a:defRPr>
            </a:pPr>
            <a:r>
              <a:t>Phân tích Twitter với Apache Spark  |  Nhóm 9  |  Trang 12/25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463040"/>
            <a:ext cx="3383280" cy="4572000"/>
          </a:xfrm>
          <a:prstGeom prst="roundRect">
            <a:avLst/>
          </a:prstGeom>
          <a:solidFill>
            <a:srgbClr val="F4F7FA"/>
          </a:solidFill>
          <a:ln w="19050">
            <a:solidFill>
              <a:srgbClr val="D0DC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645920"/>
            <a:ext cx="301752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1300">
                <a:solidFill>
                  <a:srgbClr val="1F4E79"/>
                </a:solidFill>
              </a:defRPr>
            </a:pPr>
            <a:r>
              <a:t>RQ1: HÀNH VI THEO THỜI GIAN</a:t>
            </a:r>
          </a:p>
          <a:p>
            <a:pPr>
              <a:spcAft>
                <a:spcPts val="1200"/>
              </a:spcAft>
              <a:defRPr b="1" sz="1050">
                <a:solidFill>
                  <a:srgbClr val="2E75B6"/>
                </a:solidFill>
              </a:defRPr>
            </a:pPr>
            <a:r>
              <a:t>Khảo sát tần suất đăng bài theo chu kỳ ngày và theo 24 khung giờ UTC</a:t>
            </a:r>
          </a:p>
          <a:p>
            <a:pPr>
              <a:spcAft>
                <a:spcPts val="800"/>
              </a:spcAft>
              <a:defRPr sz="1100">
                <a:latin typeface="Arial"/>
              </a:defRPr>
            </a:pPr>
            <a:r>
              <a:rPr b="1">
                <a:solidFill>
                  <a:srgbClr val="1F4E79"/>
                </a:solidFill>
              </a:rPr>
              <a:t>• Phân tích ngày: </a:t>
            </a:r>
            <a:r>
              <a:rPr>
                <a:solidFill>
                  <a:srgbClr val="333333"/>
                </a:solidFill>
              </a:rPr>
              <a:t>Xác định các ngày có lượng bài đăng đột biến và ngày có lưu lượng thấp nhất.</a:t>
            </a:r>
          </a:p>
          <a:p>
            <a:pPr>
              <a:spcAft>
                <a:spcPts val="800"/>
              </a:spcAft>
              <a:defRPr sz="1100">
                <a:latin typeface="Arial"/>
              </a:defRPr>
            </a:pPr>
            <a:r>
              <a:rPr b="1">
                <a:solidFill>
                  <a:srgbClr val="1F4E79"/>
                </a:solidFill>
              </a:rPr>
              <a:t>• Phân tích giờ: </a:t>
            </a:r>
            <a:r>
              <a:rPr>
                <a:solidFill>
                  <a:srgbClr val="333333"/>
                </a:solidFill>
              </a:rPr>
              <a:t>Khảo sát mật độ hoạt động của người dùng toàn cầu theo từng khung giờ trong ngày.</a:t>
            </a:r>
          </a:p>
          <a:p>
            <a:pPr>
              <a:spcAft>
                <a:spcPts val="800"/>
              </a:spcAft>
              <a:defRPr sz="1100">
                <a:latin typeface="Arial"/>
              </a:defRPr>
            </a:pPr>
            <a:r>
              <a:rPr b="1">
                <a:solidFill>
                  <a:srgbClr val="1F4E79"/>
                </a:solidFill>
              </a:rPr>
              <a:t>• Tương quan nhãn: </a:t>
            </a:r>
            <a:r>
              <a:rPr>
                <a:solidFill>
                  <a:srgbClr val="333333"/>
                </a:solidFill>
              </a:rPr>
              <a:t>So sánh tỷ lệ cảm xúc tích cực và tiêu cực biến động qua các mốc thời gian.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389120" y="1463040"/>
            <a:ext cx="3383280" cy="4572000"/>
          </a:xfrm>
          <a:prstGeom prst="roundRect">
            <a:avLst/>
          </a:prstGeom>
          <a:solidFill>
            <a:srgbClr val="F4F7FA"/>
          </a:solidFill>
          <a:ln w="19050">
            <a:solidFill>
              <a:srgbClr val="D0DC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0" y="1645920"/>
            <a:ext cx="301752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1300">
                <a:solidFill>
                  <a:srgbClr val="1F4E79"/>
                </a:solidFill>
              </a:defRPr>
            </a:pPr>
            <a:r>
              <a:t>RQ2: HÀNH VI NGƯỜI DÙNG</a:t>
            </a:r>
          </a:p>
          <a:p>
            <a:pPr>
              <a:spcAft>
                <a:spcPts val="1200"/>
              </a:spcAft>
              <a:defRPr b="1" sz="1050">
                <a:solidFill>
                  <a:srgbClr val="2E75B6"/>
                </a:solidFill>
              </a:defRPr>
            </a:pPr>
            <a:r>
              <a:t>Khảo sát mức độ tích cực của các tài khoản Twitter trong tập mẫu</a:t>
            </a:r>
          </a:p>
          <a:p>
            <a:pPr>
              <a:spcAft>
                <a:spcPts val="800"/>
              </a:spcAft>
              <a:defRPr sz="1100">
                <a:latin typeface="Arial"/>
              </a:defRPr>
            </a:pPr>
            <a:r>
              <a:rPr b="1">
                <a:solidFill>
                  <a:srgbClr val="1F4E79"/>
                </a:solidFill>
              </a:rPr>
              <a:t>• Tài khoản duy nhất: </a:t>
            </a:r>
            <a:r>
              <a:rPr>
                <a:solidFill>
                  <a:srgbClr val="333333"/>
                </a:solidFill>
              </a:rPr>
              <a:t>Ghi nhận 659,775 tài khoản khác nhau trong tập dữ liệu nghiên cứu.</a:t>
            </a:r>
          </a:p>
          <a:p>
            <a:pPr>
              <a:spcAft>
                <a:spcPts val="800"/>
              </a:spcAft>
              <a:defRPr sz="1100">
                <a:latin typeface="Arial"/>
              </a:defRPr>
            </a:pPr>
            <a:r>
              <a:rPr b="1">
                <a:solidFill>
                  <a:srgbClr val="1F4E79"/>
                </a:solidFill>
              </a:rPr>
              <a:t>• Hiện tượng đuôi dài: </a:t>
            </a:r>
            <a:r>
              <a:rPr>
                <a:solidFill>
                  <a:srgbClr val="333333"/>
                </a:solidFill>
              </a:rPr>
              <a:t>Hầu hết người dùng chỉ đăng 1-2 bài tweet (Long-tail user distribution).</a:t>
            </a:r>
          </a:p>
          <a:p>
            <a:pPr>
              <a:spcAft>
                <a:spcPts val="800"/>
              </a:spcAft>
              <a:defRPr sz="1100">
                <a:latin typeface="Arial"/>
              </a:defRPr>
            </a:pPr>
            <a:r>
              <a:rPr b="1">
                <a:solidFill>
                  <a:srgbClr val="1F4E79"/>
                </a:solidFill>
              </a:rPr>
              <a:t>• Người dùng tích cực: </a:t>
            </a:r>
            <a:r>
              <a:rPr>
                <a:solidFill>
                  <a:srgbClr val="333333"/>
                </a:solidFill>
              </a:rPr>
              <a:t>Nhóm người dùng đăng nhiều bài có xu hướng phân bổ cảm xúc ra sao?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046720" y="1463040"/>
            <a:ext cx="3383280" cy="4572000"/>
          </a:xfrm>
          <a:prstGeom prst="roundRect">
            <a:avLst/>
          </a:prstGeom>
          <a:solidFill>
            <a:srgbClr val="F4F7FA"/>
          </a:solidFill>
          <a:ln w="19050">
            <a:solidFill>
              <a:srgbClr val="D0DC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29600" y="1645920"/>
            <a:ext cx="301752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1300">
                <a:solidFill>
                  <a:srgbClr val="1F4E79"/>
                </a:solidFill>
              </a:defRPr>
            </a:pPr>
            <a:r>
              <a:t>RQ3: KHÁM PHÁ TỪ VỰNG</a:t>
            </a:r>
          </a:p>
          <a:p>
            <a:pPr>
              <a:spcAft>
                <a:spcPts val="1200"/>
              </a:spcAft>
              <a:defRPr b="1" sz="1050">
                <a:solidFill>
                  <a:srgbClr val="2E75B6"/>
                </a:solidFill>
              </a:defRPr>
            </a:pPr>
            <a:r>
              <a:t>Trích xuất các từ khóa đặc trưng phân hóa cảm xúc mạnh mẽ nhất</a:t>
            </a:r>
          </a:p>
          <a:p>
            <a:pPr>
              <a:spcAft>
                <a:spcPts val="800"/>
              </a:spcAft>
              <a:defRPr sz="1100">
                <a:latin typeface="Arial"/>
              </a:defRPr>
            </a:pPr>
            <a:r>
              <a:rPr b="1">
                <a:solidFill>
                  <a:srgbClr val="1F4E79"/>
                </a:solidFill>
              </a:rPr>
              <a:t>• Tách từ phân tán: </a:t>
            </a:r>
            <a:r>
              <a:rPr>
                <a:solidFill>
                  <a:srgbClr val="333333"/>
                </a:solidFill>
              </a:rPr>
              <a:t>Sử dụng Spark SQL explode(split(clean_text, ' ')) đếm tần suất từ song song.</a:t>
            </a:r>
          </a:p>
          <a:p>
            <a:pPr>
              <a:spcAft>
                <a:spcPts val="800"/>
              </a:spcAft>
              <a:defRPr sz="1100">
                <a:latin typeface="Arial"/>
              </a:defRPr>
            </a:pPr>
            <a:r>
              <a:rPr b="1">
                <a:solidFill>
                  <a:srgbClr val="1F4E79"/>
                </a:solidFill>
              </a:rPr>
              <a:t>• Từ vựng tích cực: </a:t>
            </a:r>
            <a:r>
              <a:rPr>
                <a:solidFill>
                  <a:srgbClr val="333333"/>
                </a:solidFill>
              </a:rPr>
              <a:t>Các từ mang sắc thái lạc quan, cảm ơn, khen ngợi (love, good, thank, great).</a:t>
            </a:r>
          </a:p>
          <a:p>
            <a:pPr>
              <a:spcAft>
                <a:spcPts val="800"/>
              </a:spcAft>
              <a:defRPr sz="1100">
                <a:latin typeface="Arial"/>
              </a:defRPr>
            </a:pPr>
            <a:r>
              <a:rPr b="1">
                <a:solidFill>
                  <a:srgbClr val="1F4E79"/>
                </a:solidFill>
              </a:rPr>
              <a:t>• Từ vựng tiêu cực: </a:t>
            </a:r>
            <a:r>
              <a:rPr>
                <a:solidFill>
                  <a:srgbClr val="333333"/>
                </a:solidFill>
              </a:rPr>
              <a:t>Các từ mang sắc thái than phiền, bức xúc, phủ định (not, no, miss, sad, bad).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515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2E75B6"/>
                </a:solidFill>
                <a:latin typeface="Arial"/>
              </a:defRPr>
            </a:pPr>
            <a:r>
              <a:t>ĐỒ ÁN MÔN: NHẬP MÔN BIG DATA — NHÓM 09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515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1F4E79"/>
                </a:solidFill>
                <a:latin typeface="Arial"/>
              </a:defRPr>
            </a:pPr>
            <a:r>
              <a:t>12. RQ1 - Biến động Khối lượng Tweet theo Ngày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0"/>
            <a:ext cx="106984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888888"/>
                </a:solidFill>
                <a:latin typeface="Arial"/>
              </a:defRPr>
            </a:pPr>
            <a:r>
              <a:t>Phân tích Twitter với Apache Spark  |  Nhóm 9  |  Trang 13/25</a:t>
            </a:r>
          </a:p>
        </p:txBody>
      </p:sp>
      <p:pic>
        <p:nvPicPr>
          <p:cNvPr id="5" name="Picture 4" descr="posts_by_da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463040"/>
            <a:ext cx="6217920" cy="2743431"/>
          </a:xfrm>
          <a:prstGeom prst="rect">
            <a:avLst/>
          </a:prstGeom>
        </p:spPr>
      </p:pic>
      <p:sp>
        <p:nvSpPr>
          <p:cNvPr id="6" name="Rounded Rectangle 5"/>
          <p:cNvSpPr/>
          <p:nvPr/>
        </p:nvSpPr>
        <p:spPr>
          <a:xfrm>
            <a:off x="7132320" y="1463040"/>
            <a:ext cx="4297680" cy="4572000"/>
          </a:xfrm>
          <a:prstGeom prst="roundRect">
            <a:avLst/>
          </a:prstGeom>
          <a:solidFill>
            <a:srgbClr val="F4F7FA"/>
          </a:solidFill>
          <a:ln w="19050">
            <a:solidFill>
              <a:srgbClr val="D0DC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0" y="1645920"/>
            <a:ext cx="393192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b="1" sz="1400">
                <a:solidFill>
                  <a:srgbClr val="1F4E79"/>
                </a:solidFill>
              </a:defRPr>
            </a:pPr>
            <a:r>
              <a:t>NHẬN XÉT THỰC NGHIỆM</a:t>
            </a:r>
          </a:p>
          <a:p>
            <a:pPr>
              <a:spcAft>
                <a:spcPts val="1000"/>
              </a:spcAft>
              <a:defRPr sz="1300">
                <a:latin typeface="Arial"/>
              </a:defRPr>
            </a:pPr>
            <a:r>
              <a:rPr b="1">
                <a:solidFill>
                  <a:srgbClr val="1F4E79"/>
                </a:solidFill>
              </a:rPr>
              <a:t>• Thời gian khảo sát: </a:t>
            </a:r>
            <a:r>
              <a:rPr>
                <a:solidFill>
                  <a:srgbClr val="333333"/>
                </a:solidFill>
              </a:rPr>
              <a:t>Kéo dài từ ngày 07/04/2009 đến 25/06/2009 (hơn 2.5 tháng).</a:t>
            </a:r>
          </a:p>
          <a:p>
            <a:pPr>
              <a:spcAft>
                <a:spcPts val="1000"/>
              </a:spcAft>
              <a:defRPr sz="1300">
                <a:latin typeface="Arial"/>
              </a:defRPr>
            </a:pPr>
            <a:r>
              <a:rPr b="1">
                <a:solidFill>
                  <a:srgbClr val="1F4E79"/>
                </a:solidFill>
              </a:rPr>
              <a:t>• Ngày cao điểm nhất: </a:t>
            </a:r>
            <a:r>
              <a:rPr>
                <a:solidFill>
                  <a:srgbClr val="333333"/>
                </a:solidFill>
              </a:rPr>
              <a:t>Ngày 07/06/2009 ghi nhận lượng tweet tăng vọt (hơn 100,000 bài), phản ánh các sự kiện chính trị / thể thao lớn diễn ra.</a:t>
            </a:r>
          </a:p>
          <a:p>
            <a:pPr>
              <a:spcAft>
                <a:spcPts val="1000"/>
              </a:spcAft>
              <a:defRPr sz="1300">
                <a:latin typeface="Arial"/>
              </a:defRPr>
            </a:pPr>
            <a:r>
              <a:rPr b="1">
                <a:solidFill>
                  <a:srgbClr val="1F4E79"/>
                </a:solidFill>
              </a:rPr>
              <a:t>• Chu kỳ tuần hoàn: </a:t>
            </a:r>
            <a:r>
              <a:rPr>
                <a:solidFill>
                  <a:srgbClr val="333333"/>
                </a:solidFill>
              </a:rPr>
              <a:t>Lưu lượng bài đăng có xu hướng tăng vào các ngày cuối tuần và các ngày diễn ra sự kiện nóng.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515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2E75B6"/>
                </a:solidFill>
                <a:latin typeface="Arial"/>
              </a:defRPr>
            </a:pPr>
            <a:r>
              <a:t>ĐỒ ÁN MÔN: NHẬP MÔN BIG DATA — NHÓM 09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515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1F4E79"/>
                </a:solidFill>
                <a:latin typeface="Arial"/>
              </a:defRPr>
            </a:pPr>
            <a:r>
              <a:t>13. RQ1 - Mật độ Bài đăng theo 24 Khung giờ UTC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0"/>
            <a:ext cx="106984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888888"/>
                </a:solidFill>
                <a:latin typeface="Arial"/>
              </a:defRPr>
            </a:pPr>
            <a:r>
              <a:t>Phân tích Twitter với Apache Spark  |  Nhóm 9  |  Trang 14/25</a:t>
            </a:r>
          </a:p>
        </p:txBody>
      </p:sp>
      <p:pic>
        <p:nvPicPr>
          <p:cNvPr id="5" name="Picture 4" descr="posts_by_hour_utc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463040"/>
            <a:ext cx="6217920" cy="3043370"/>
          </a:xfrm>
          <a:prstGeom prst="rect">
            <a:avLst/>
          </a:prstGeom>
        </p:spPr>
      </p:pic>
      <p:sp>
        <p:nvSpPr>
          <p:cNvPr id="6" name="Rounded Rectangle 5"/>
          <p:cNvSpPr/>
          <p:nvPr/>
        </p:nvSpPr>
        <p:spPr>
          <a:xfrm>
            <a:off x="7132320" y="1463040"/>
            <a:ext cx="4297680" cy="4572000"/>
          </a:xfrm>
          <a:prstGeom prst="roundRect">
            <a:avLst/>
          </a:prstGeom>
          <a:solidFill>
            <a:srgbClr val="F4F7FA"/>
          </a:solidFill>
          <a:ln w="19050">
            <a:solidFill>
              <a:srgbClr val="D0DC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0" y="1645920"/>
            <a:ext cx="393192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b="1" sz="1400">
                <a:solidFill>
                  <a:srgbClr val="1F4E79"/>
                </a:solidFill>
              </a:defRPr>
            </a:pPr>
            <a:r>
              <a:t>NHẬN XÉT THỰC NGHIỆM</a:t>
            </a:r>
          </a:p>
          <a:p>
            <a:pPr>
              <a:spcAft>
                <a:spcPts val="1000"/>
              </a:spcAft>
              <a:defRPr sz="1300">
                <a:latin typeface="Arial"/>
              </a:defRPr>
            </a:pPr>
            <a:r>
              <a:rPr b="1">
                <a:solidFill>
                  <a:srgbClr val="1F4E79"/>
                </a:solidFill>
              </a:rPr>
              <a:t>• Giờ cao điểm: </a:t>
            </a:r>
            <a:r>
              <a:rPr>
                <a:solidFill>
                  <a:srgbClr val="333333"/>
                </a:solidFill>
              </a:rPr>
              <a:t>Khung giờ 12:00 - 15:00 UTC ghi nhận mật độ tweet cao nhất (trên 80,000 tweet/giờ).</a:t>
            </a:r>
          </a:p>
          <a:p>
            <a:pPr>
              <a:spcAft>
                <a:spcPts val="1000"/>
              </a:spcAft>
              <a:defRPr sz="1300">
                <a:latin typeface="Arial"/>
              </a:defRPr>
            </a:pPr>
            <a:r>
              <a:rPr b="1">
                <a:solidFill>
                  <a:srgbClr val="1F4E79"/>
                </a:solidFill>
              </a:rPr>
              <a:t>• Ý nghĩa địa lý: </a:t>
            </a:r>
            <a:r>
              <a:rPr>
                <a:solidFill>
                  <a:srgbClr val="333333"/>
                </a:solidFill>
              </a:rPr>
              <a:t>Tương ứng với buổi sáng tại khu vực Bắc Mỹ và buổi chiều tối tại châu Âu, thời điểm người dùng bắt đầu các hoạt động trực tuyến tích cực.</a:t>
            </a:r>
          </a:p>
          <a:p>
            <a:pPr>
              <a:spcAft>
                <a:spcPts val="1000"/>
              </a:spcAft>
              <a:defRPr sz="1300">
                <a:latin typeface="Arial"/>
              </a:defRPr>
            </a:pPr>
            <a:r>
              <a:rPr b="1">
                <a:solidFill>
                  <a:srgbClr val="1F4E79"/>
                </a:solidFill>
              </a:rPr>
              <a:t>• Giờ trầm lắng: </a:t>
            </a:r>
            <a:r>
              <a:rPr>
                <a:solidFill>
                  <a:srgbClr val="333333"/>
                </a:solidFill>
              </a:rPr>
              <a:t>Khung giờ 03:00 - 05:00 UTC có lưu lượng thấp nhất, tương ứng với nửa đêm tại bờ Tây và bờ Đông nước Mỹ.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515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2E75B6"/>
                </a:solidFill>
                <a:latin typeface="Arial"/>
              </a:defRPr>
            </a:pPr>
            <a:r>
              <a:t>ĐỒ ÁN MÔN: NHẬP MÔN BIG DATA — NHÓM 09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515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1F4E79"/>
                </a:solidFill>
                <a:latin typeface="Arial"/>
              </a:defRPr>
            </a:pPr>
            <a:r>
              <a:t>14. RQ2 - Phân tích Mức độ Hoạt động của Người dùng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0"/>
            <a:ext cx="106984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888888"/>
                </a:solidFill>
                <a:latin typeface="Arial"/>
              </a:defRPr>
            </a:pPr>
            <a:r>
              <a:t>Phân tích Twitter với Apache Spark  |  Nhóm 9  |  Trang 15/25</a:t>
            </a:r>
          </a:p>
        </p:txBody>
      </p:sp>
      <p:pic>
        <p:nvPicPr>
          <p:cNvPr id="5" name="Picture 4" descr="posts_per_us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463040"/>
            <a:ext cx="6217920" cy="3043370"/>
          </a:xfrm>
          <a:prstGeom prst="rect">
            <a:avLst/>
          </a:prstGeom>
        </p:spPr>
      </p:pic>
      <p:sp>
        <p:nvSpPr>
          <p:cNvPr id="6" name="Rounded Rectangle 5"/>
          <p:cNvSpPr/>
          <p:nvPr/>
        </p:nvSpPr>
        <p:spPr>
          <a:xfrm>
            <a:off x="7132320" y="1463040"/>
            <a:ext cx="4297680" cy="4572000"/>
          </a:xfrm>
          <a:prstGeom prst="roundRect">
            <a:avLst/>
          </a:prstGeom>
          <a:solidFill>
            <a:srgbClr val="F4F7FA"/>
          </a:solidFill>
          <a:ln w="19050">
            <a:solidFill>
              <a:srgbClr val="D0DC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0" y="1645920"/>
            <a:ext cx="393192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b="1" sz="1400">
                <a:solidFill>
                  <a:srgbClr val="1F4E79"/>
                </a:solidFill>
              </a:defRPr>
            </a:pPr>
            <a:r>
              <a:t>HIỆN TƯỢNG ĐUÔI DÀI (LONG-TAIL)</a:t>
            </a:r>
          </a:p>
          <a:p>
            <a:pPr>
              <a:spcAft>
                <a:spcPts val="1000"/>
              </a:spcAft>
              <a:defRPr sz="1300">
                <a:latin typeface="Arial"/>
              </a:defRPr>
            </a:pPr>
            <a:r>
              <a:rPr b="1">
                <a:solidFill>
                  <a:srgbClr val="1F4E79"/>
                </a:solidFill>
              </a:rPr>
              <a:t>• Quy mô tài khoản: </a:t>
            </a:r>
            <a:r>
              <a:rPr>
                <a:solidFill>
                  <a:srgbClr val="333333"/>
                </a:solidFill>
              </a:rPr>
              <a:t>659,775 tài khoản khác nhau trong tập mẫu.</a:t>
            </a:r>
          </a:p>
          <a:p>
            <a:pPr>
              <a:spcAft>
                <a:spcPts val="1000"/>
              </a:spcAft>
              <a:defRPr sz="1300">
                <a:latin typeface="Arial"/>
              </a:defRPr>
            </a:pPr>
            <a:r>
              <a:rPr b="1">
                <a:solidFill>
                  <a:srgbClr val="1F4E79"/>
                </a:solidFill>
              </a:rPr>
              <a:t>• Đại đa số người dùng: </a:t>
            </a:r>
            <a:r>
              <a:rPr>
                <a:solidFill>
                  <a:srgbClr val="333333"/>
                </a:solidFill>
              </a:rPr>
              <a:t>Hơn 70% tài khoản chỉ xuất hiện đúng 1 lần trong tập dữ liệu.</a:t>
            </a:r>
          </a:p>
          <a:p>
            <a:pPr>
              <a:spcAft>
                <a:spcPts val="1000"/>
              </a:spcAft>
              <a:defRPr sz="1300">
                <a:latin typeface="Arial"/>
              </a:defRPr>
            </a:pPr>
            <a:r>
              <a:rPr b="1">
                <a:solidFill>
                  <a:srgbClr val="1F4E79"/>
                </a:solidFill>
              </a:rPr>
              <a:t>• Tài khoản tích cực: </a:t>
            </a:r>
            <a:r>
              <a:rPr>
                <a:solidFill>
                  <a:srgbClr val="333333"/>
                </a:solidFill>
              </a:rPr>
              <a:t>Chỉ một tỷ lệ rất nhỏ tài khoản có trên 10 bài đăng.</a:t>
            </a:r>
          </a:p>
          <a:p>
            <a:pPr>
              <a:spcAft>
                <a:spcPts val="1000"/>
              </a:spcAft>
              <a:defRPr sz="1300">
                <a:latin typeface="Arial"/>
              </a:defRPr>
            </a:pPr>
            <a:r>
              <a:rPr b="1">
                <a:solidFill>
                  <a:srgbClr val="1F4E79"/>
                </a:solidFill>
              </a:rPr>
              <a:t>• Ý nghĩa học máy: </a:t>
            </a:r>
            <a:r>
              <a:rPr>
                <a:solidFill>
                  <a:srgbClr val="333333"/>
                </a:solidFill>
              </a:rPr>
              <a:t>Không thể dùng ID người dùng làm đặc trưng phân loại vì sẽ gây Overfitting nghiêm trọng; mô hình chỉ được phép học từ nội dung văn bản (clean_text).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515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2E75B6"/>
                </a:solidFill>
                <a:latin typeface="Arial"/>
              </a:defRPr>
            </a:pPr>
            <a:r>
              <a:t>ĐỒ ÁN MÔN: NHẬP MÔN BIG DATA — NHÓM 09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515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1F4E79"/>
                </a:solidFill>
                <a:latin typeface="Arial"/>
              </a:defRPr>
            </a:pPr>
            <a:r>
              <a:t>15. RQ3 - Top Từ vựng Phân hóa Cảm xúc Mạnh mẽ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0"/>
            <a:ext cx="106984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888888"/>
                </a:solidFill>
                <a:latin typeface="Arial"/>
              </a:defRPr>
            </a:pPr>
            <a:r>
              <a:t>Phân tích Twitter với Apache Spark  |  Nhóm 9  |  Trang 16/25</a:t>
            </a:r>
          </a:p>
        </p:txBody>
      </p:sp>
      <p:pic>
        <p:nvPicPr>
          <p:cNvPr id="5" name="Picture 4" descr="top_words_by_labe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463040"/>
            <a:ext cx="6217920" cy="3081187"/>
          </a:xfrm>
          <a:prstGeom prst="rect">
            <a:avLst/>
          </a:prstGeom>
        </p:spPr>
      </p:pic>
      <p:sp>
        <p:nvSpPr>
          <p:cNvPr id="6" name="Rounded Rectangle 5"/>
          <p:cNvSpPr/>
          <p:nvPr/>
        </p:nvSpPr>
        <p:spPr>
          <a:xfrm>
            <a:off x="7132320" y="1463040"/>
            <a:ext cx="4297680" cy="4572000"/>
          </a:xfrm>
          <a:prstGeom prst="roundRect">
            <a:avLst/>
          </a:prstGeom>
          <a:solidFill>
            <a:srgbClr val="F4F7FA"/>
          </a:solidFill>
          <a:ln w="19050">
            <a:solidFill>
              <a:srgbClr val="D0DC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0" y="1645920"/>
            <a:ext cx="393192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b="1" sz="1400">
                <a:solidFill>
                  <a:srgbClr val="1F4E79"/>
                </a:solidFill>
              </a:defRPr>
            </a:pPr>
            <a:r>
              <a:t>ĐẶC TRƯNG TỪ VỰNG PHÂN HÓA</a:t>
            </a:r>
          </a:p>
          <a:p>
            <a:pPr>
              <a:spcAft>
                <a:spcPts val="1000"/>
              </a:spcAft>
              <a:defRPr sz="1300">
                <a:latin typeface="Arial"/>
              </a:defRPr>
            </a:pPr>
            <a:r>
              <a:rPr b="1">
                <a:solidFill>
                  <a:srgbClr val="1F4E79"/>
                </a:solidFill>
              </a:rPr>
              <a:t>• Nhóm Tích cực (Positive): </a:t>
            </a:r>
            <a:r>
              <a:rPr>
                <a:solidFill>
                  <a:srgbClr val="333333"/>
                </a:solidFill>
              </a:rPr>
              <a:t>Chi phối bởi các từ: 'good', 'love', 'day', 'thanks', 'happy', 'great'. Thể hiện sự hài lòng, niềm vui và sự ủng hộ.</a:t>
            </a:r>
          </a:p>
          <a:p>
            <a:pPr>
              <a:spcAft>
                <a:spcPts val="1000"/>
              </a:spcAft>
              <a:defRPr sz="1300">
                <a:latin typeface="Arial"/>
              </a:defRPr>
            </a:pPr>
            <a:r>
              <a:rPr b="1">
                <a:solidFill>
                  <a:srgbClr val="1F4E79"/>
                </a:solidFill>
              </a:rPr>
              <a:t>• Nhóm Tiêu cực (Negative): </a:t>
            </a:r>
            <a:r>
              <a:rPr>
                <a:solidFill>
                  <a:srgbClr val="333333"/>
                </a:solidFill>
              </a:rPr>
              <a:t>Chi phối bởi các từ phủ định và than phiền: 'not', 'no', 'work', 'miss', 'sad', 'hate'.</a:t>
            </a:r>
          </a:p>
          <a:p>
            <a:pPr>
              <a:spcAft>
                <a:spcPts val="1000"/>
              </a:spcAft>
              <a:defRPr sz="1300">
                <a:latin typeface="Arial"/>
              </a:defRPr>
            </a:pPr>
            <a:r>
              <a:rPr b="1">
                <a:solidFill>
                  <a:srgbClr val="1F4E79"/>
                </a:solidFill>
              </a:rPr>
              <a:t>• Cơ sở cho TF-IDF: </a:t>
            </a:r>
            <a:r>
              <a:rPr>
                <a:solidFill>
                  <a:srgbClr val="333333"/>
                </a:solidFill>
              </a:rPr>
              <a:t>Sự phân hóa rõ rệt của các từ khóa này là tiền đề vững chắc để bộ trích xuất TF-IDF gán trọng số và giúp mô hình phân loại chính xác.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515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2E75B6"/>
                </a:solidFill>
                <a:latin typeface="Arial"/>
              </a:defRPr>
            </a:pPr>
            <a:r>
              <a:t>ĐỒ ÁN MÔN: NHẬP MÔN BIG DATA — NHÓM 09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515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1F4E79"/>
                </a:solidFill>
                <a:latin typeface="Arial"/>
              </a:defRPr>
            </a:pPr>
            <a:r>
              <a:t>16. Pipeline Trích xuất Đặc trưng NLP (Spark MLlib)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0"/>
            <a:ext cx="106984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888888"/>
                </a:solidFill>
                <a:latin typeface="Arial"/>
              </a:defRPr>
            </a:pPr>
            <a:r>
              <a:t>Phân tích Twitter với Apache Spark  |  Nhóm 9  |  Trang 17/25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463040"/>
            <a:ext cx="3383280" cy="4572000"/>
          </a:xfrm>
          <a:prstGeom prst="roundRect">
            <a:avLst/>
          </a:prstGeom>
          <a:solidFill>
            <a:srgbClr val="F4F7FA"/>
          </a:solidFill>
          <a:ln w="19050">
            <a:solidFill>
              <a:srgbClr val="D0DC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645920"/>
            <a:ext cx="301752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1300">
                <a:solidFill>
                  <a:srgbClr val="1F4E79"/>
                </a:solidFill>
              </a:defRPr>
            </a:pPr>
            <a:r>
              <a:t>BƯỚC 1: RegexTokenizer</a:t>
            </a:r>
          </a:p>
          <a:p>
            <a:pPr>
              <a:spcAft>
                <a:spcPts val="1200"/>
              </a:spcAft>
              <a:defRPr b="1" sz="1050">
                <a:solidFill>
                  <a:srgbClr val="2E75B6"/>
                </a:solidFill>
              </a:defRPr>
            </a:pPr>
            <a:r>
              <a:t>Phân tách văn bản thành danh sách từ</a:t>
            </a:r>
          </a:p>
          <a:p>
            <a:pPr>
              <a:spcAft>
                <a:spcPts val="800"/>
              </a:spcAft>
              <a:defRPr sz="1100">
                <a:latin typeface="Arial"/>
              </a:defRPr>
            </a:pPr>
            <a:r>
              <a:rPr b="1">
                <a:solidFill>
                  <a:srgbClr val="1F4E79"/>
                </a:solidFill>
              </a:rPr>
              <a:t>• Biểu thức Regex: </a:t>
            </a:r>
            <a:r>
              <a:rPr>
                <a:solidFill>
                  <a:srgbClr val="333333"/>
                </a:solidFill>
              </a:rPr>
              <a:t>pattern='\w+' tách theo từ ngữ hợp lệ.</a:t>
            </a:r>
          </a:p>
          <a:p>
            <a:pPr>
              <a:spcAft>
                <a:spcPts val="800"/>
              </a:spcAft>
              <a:defRPr sz="1100">
                <a:latin typeface="Arial"/>
              </a:defRPr>
            </a:pPr>
            <a:r>
              <a:rPr b="1">
                <a:solidFill>
                  <a:srgbClr val="1F4E79"/>
                </a:solidFill>
              </a:rPr>
              <a:t>• Chuyển chữ thường: </a:t>
            </a:r>
            <a:r>
              <a:rPr>
                <a:solidFill>
                  <a:srgbClr val="333333"/>
                </a:solidFill>
              </a:rPr>
              <a:t>Đồng nhất toàn bộ ký tự về chữ thường.</a:t>
            </a:r>
          </a:p>
          <a:p>
            <a:pPr>
              <a:spcAft>
                <a:spcPts val="800"/>
              </a:spcAft>
              <a:defRPr sz="1100">
                <a:latin typeface="Arial"/>
              </a:defRPr>
            </a:pPr>
            <a:r>
              <a:rPr b="1">
                <a:solidFill>
                  <a:srgbClr val="1F4E79"/>
                </a:solidFill>
              </a:rPr>
              <a:t>• Loại bỏ khoảng trắng: </a:t>
            </a:r>
            <a:r>
              <a:rPr>
                <a:solidFill>
                  <a:srgbClr val="333333"/>
                </a:solidFill>
              </a:rPr>
              <a:t>Tự động khử các ký tự khoảng trắng dư thừa.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389120" y="1463040"/>
            <a:ext cx="3383280" cy="4572000"/>
          </a:xfrm>
          <a:prstGeom prst="roundRect">
            <a:avLst/>
          </a:prstGeom>
          <a:solidFill>
            <a:srgbClr val="F4F7FA"/>
          </a:solidFill>
          <a:ln w="19050">
            <a:solidFill>
              <a:srgbClr val="D0DC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0" y="1645920"/>
            <a:ext cx="301752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1300">
                <a:solidFill>
                  <a:srgbClr val="1F4E79"/>
                </a:solidFill>
              </a:defRPr>
            </a:pPr>
            <a:r>
              <a:t>BƯỚC 2: HashingTF</a:t>
            </a:r>
          </a:p>
          <a:p>
            <a:pPr>
              <a:spcAft>
                <a:spcPts val="1200"/>
              </a:spcAft>
              <a:defRPr b="1" sz="1050">
                <a:solidFill>
                  <a:srgbClr val="2E75B6"/>
                </a:solidFill>
              </a:defRPr>
            </a:pPr>
            <a:r>
              <a:t>Biến đổi chuỗi từ thành vector tần suất (TF)</a:t>
            </a:r>
          </a:p>
          <a:p>
            <a:pPr>
              <a:spcAft>
                <a:spcPts val="800"/>
              </a:spcAft>
              <a:defRPr sz="1100">
                <a:latin typeface="Arial"/>
              </a:defRPr>
            </a:pPr>
            <a:r>
              <a:rPr b="1">
                <a:solidFill>
                  <a:srgbClr val="1F4E79"/>
                </a:solidFill>
              </a:rPr>
              <a:t>• Không gian đặc trưng: </a:t>
            </a:r>
            <a:r>
              <a:rPr>
                <a:solidFill>
                  <a:srgbClr val="333333"/>
                </a:solidFill>
              </a:rPr>
              <a:t>numFeatures = 32,768 chiều vector.</a:t>
            </a:r>
          </a:p>
          <a:p>
            <a:pPr>
              <a:spcAft>
                <a:spcPts val="800"/>
              </a:spcAft>
              <a:defRPr sz="1100">
                <a:latin typeface="Arial"/>
              </a:defRPr>
            </a:pPr>
            <a:r>
              <a:rPr b="1">
                <a:solidFill>
                  <a:srgbClr val="1F4E79"/>
                </a:solidFill>
              </a:rPr>
              <a:t>• Hashing Trick: </a:t>
            </a:r>
            <a:r>
              <a:rPr>
                <a:solidFill>
                  <a:srgbClr val="333333"/>
                </a:solidFill>
              </a:rPr>
              <a:t>Dùng hàm băm MurmurHash ánh xạ trực tiếp từ ngữ vào index vector.</a:t>
            </a:r>
          </a:p>
          <a:p>
            <a:pPr>
              <a:spcAft>
                <a:spcPts val="800"/>
              </a:spcAft>
              <a:defRPr sz="1100">
                <a:latin typeface="Arial"/>
              </a:defRPr>
            </a:pPr>
            <a:r>
              <a:rPr b="1">
                <a:solidFill>
                  <a:srgbClr val="1F4E79"/>
                </a:solidFill>
              </a:rPr>
              <a:t>• Tiết kiệm RAM: </a:t>
            </a:r>
            <a:r>
              <a:rPr>
                <a:solidFill>
                  <a:srgbClr val="333333"/>
                </a:solidFill>
              </a:rPr>
              <a:t>Không cần duy trì từ điển từ vựng (Vocabulary) khổng lồ trên driver.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046720" y="1463040"/>
            <a:ext cx="3383280" cy="4572000"/>
          </a:xfrm>
          <a:prstGeom prst="roundRect">
            <a:avLst/>
          </a:prstGeom>
          <a:solidFill>
            <a:srgbClr val="F4F7FA"/>
          </a:solidFill>
          <a:ln w="19050">
            <a:solidFill>
              <a:srgbClr val="D0DC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29600" y="1645920"/>
            <a:ext cx="301752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1300">
                <a:solidFill>
                  <a:srgbClr val="1F4E79"/>
                </a:solidFill>
              </a:defRPr>
            </a:pPr>
            <a:r>
              <a:t>BƯỚC 3: IDF Estimator</a:t>
            </a:r>
          </a:p>
          <a:p>
            <a:pPr>
              <a:spcAft>
                <a:spcPts val="1200"/>
              </a:spcAft>
              <a:defRPr b="1" sz="1050">
                <a:solidFill>
                  <a:srgbClr val="2E75B6"/>
                </a:solidFill>
              </a:defRPr>
            </a:pPr>
            <a:r>
              <a:t>Tính trọng số nghịch đảo tài liệu (Inverse Doc Freq)</a:t>
            </a:r>
          </a:p>
          <a:p>
            <a:pPr>
              <a:spcAft>
                <a:spcPts val="800"/>
              </a:spcAft>
              <a:defRPr sz="1100">
                <a:latin typeface="Arial"/>
              </a:defRPr>
            </a:pPr>
            <a:r>
              <a:rPr b="1">
                <a:solidFill>
                  <a:srgbClr val="1F4E79"/>
                </a:solidFill>
              </a:rPr>
              <a:t>• Công thức IDF: </a:t>
            </a:r>
            <a:r>
              <a:rPr>
                <a:solidFill>
                  <a:srgbClr val="333333"/>
                </a:solidFill>
              </a:rPr>
              <a:t>Giảm trọng số các từ xuất hiện phổ biến ở mọi tài liệu.</a:t>
            </a:r>
          </a:p>
          <a:p>
            <a:pPr>
              <a:spcAft>
                <a:spcPts val="800"/>
              </a:spcAft>
              <a:defRPr sz="1100">
                <a:latin typeface="Arial"/>
              </a:defRPr>
            </a:pPr>
            <a:r>
              <a:rPr b="1">
                <a:solidFill>
                  <a:srgbClr val="1F4E79"/>
                </a:solidFill>
              </a:rPr>
              <a:t>• Tăng trọng số: </a:t>
            </a:r>
            <a:r>
              <a:rPr>
                <a:solidFill>
                  <a:srgbClr val="333333"/>
                </a:solidFill>
              </a:rPr>
              <a:t>Khuếch đại các từ khóa đặc trưng có tính phân loại cao.</a:t>
            </a:r>
          </a:p>
          <a:p>
            <a:pPr>
              <a:spcAft>
                <a:spcPts val="800"/>
              </a:spcAft>
              <a:defRPr sz="1100">
                <a:latin typeface="Arial"/>
              </a:defRPr>
            </a:pPr>
            <a:r>
              <a:rPr b="1">
                <a:solidFill>
                  <a:srgbClr val="1F4E79"/>
                </a:solidFill>
              </a:rPr>
              <a:t>• Đầu ra Pipeline: </a:t>
            </a:r>
            <a:r>
              <a:rPr>
                <a:solidFill>
                  <a:srgbClr val="333333"/>
                </a:solidFill>
              </a:rPr>
              <a:t>Tạo cột 'features' vector sẵn sàng cho thuật toán phân loại.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515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2E75B6"/>
                </a:solidFill>
                <a:latin typeface="Arial"/>
              </a:defRPr>
            </a:pPr>
            <a:r>
              <a:t>ĐỒ ÁN MÔN: NHẬP MÔN BIG DATA — NHÓM 09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515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1F4E79"/>
                </a:solidFill>
                <a:latin typeface="Arial"/>
              </a:defRPr>
            </a:pPr>
            <a:r>
              <a:t>17. Chiến lược Phân chia Dữ liệu &amp; Chống Rò rỉ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0"/>
            <a:ext cx="106984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888888"/>
                </a:solidFill>
                <a:latin typeface="Arial"/>
              </a:defRPr>
            </a:pPr>
            <a:r>
              <a:t>Phân tích Twitter với Apache Spark  |  Nhóm 9  |  Trang 18/25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463040"/>
            <a:ext cx="5120640" cy="4572000"/>
          </a:xfrm>
          <a:prstGeom prst="roundRect">
            <a:avLst/>
          </a:prstGeom>
          <a:solidFill>
            <a:srgbClr val="F4F7FA"/>
          </a:solidFill>
          <a:ln w="19050">
            <a:solidFill>
              <a:srgbClr val="D0DC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645920"/>
            <a:ext cx="475488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b="1" sz="1400">
                <a:solidFill>
                  <a:srgbClr val="1F4E79"/>
                </a:solidFill>
              </a:defRPr>
            </a:pPr>
            <a:r>
              <a:t>NGUY CƠ RÒ RỈ DỮ LIỆU (DATA LEAKAGE)</a:t>
            </a:r>
          </a:p>
          <a:p>
            <a:pPr>
              <a:spcAft>
                <a:spcPts val="1000"/>
              </a:spcAft>
              <a:defRPr sz="1300">
                <a:latin typeface="Arial"/>
              </a:defRPr>
            </a:pPr>
            <a:r>
              <a:rPr b="1">
                <a:solidFill>
                  <a:srgbClr val="1F4E79"/>
                </a:solidFill>
              </a:rPr>
              <a:t>• Hiện tượng mâu thuẫn nhãn: </a:t>
            </a:r>
            <a:r>
              <a:rPr>
                <a:solidFill>
                  <a:srgbClr val="333333"/>
                </a:solidFill>
              </a:rPr>
              <a:t>Trong 1.6M tweet, có 2,361 nhóm câu có nội dung giống hệt nhau nhưng bị gán nhãn trái ngược nhau (29,280 dòng).</a:t>
            </a:r>
          </a:p>
          <a:p>
            <a:pPr>
              <a:spcAft>
                <a:spcPts val="1000"/>
              </a:spcAft>
              <a:defRPr sz="1300">
                <a:latin typeface="Arial"/>
              </a:defRPr>
            </a:pPr>
            <a:r>
              <a:rPr b="1">
                <a:solidFill>
                  <a:srgbClr val="1F4E79"/>
                </a:solidFill>
              </a:rPr>
              <a:t>• Hậu quả nếu chia ngẫu nhiên: </a:t>
            </a:r>
            <a:r>
              <a:rPr>
                <a:solidFill>
                  <a:srgbClr val="333333"/>
                </a:solidFill>
              </a:rPr>
              <a:t>Cùng một câu văn sẽ đồng thời rơi vào cả tập Train và tập Test, khiến mô hình 'học vẹt' và thổi phồng độ chính xác ảo.</a:t>
            </a:r>
          </a:p>
          <a:p>
            <a:pPr>
              <a:spcAft>
                <a:spcPts val="1000"/>
              </a:spcAft>
              <a:defRPr sz="1300">
                <a:latin typeface="Arial"/>
              </a:defRPr>
            </a:pPr>
            <a:r>
              <a:rPr b="1">
                <a:solidFill>
                  <a:srgbClr val="1F4E79"/>
                </a:solidFill>
              </a:rPr>
              <a:t>• Giải pháp triệt để: </a:t>
            </a:r>
            <a:r>
              <a:rPr>
                <a:solidFill>
                  <a:srgbClr val="333333"/>
                </a:solidFill>
              </a:rPr>
              <a:t>Nhóm lọc bỏ hoàn toàn các nhóm bài viết mâu thuẫn nhãn trước khi tiến hành phân chia tập dữ liệu.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7920" y="1463040"/>
            <a:ext cx="5212080" cy="4572000"/>
          </a:xfrm>
          <a:prstGeom prst="roundRect">
            <a:avLst/>
          </a:prstGeom>
          <a:solidFill>
            <a:srgbClr val="F4F7FA"/>
          </a:solidFill>
          <a:ln w="19050">
            <a:solidFill>
              <a:srgbClr val="D0DC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0" y="1645920"/>
            <a:ext cx="484632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b="1" sz="1400">
                <a:solidFill>
                  <a:srgbClr val="1F4E79"/>
                </a:solidFill>
              </a:defRPr>
            </a:pPr>
            <a:r>
              <a:t>CƠ CHẾ PHÂN CHIA XÁC ĐỊNH BẰNG HÀM BĂM</a:t>
            </a:r>
          </a:p>
          <a:p>
            <a:pPr>
              <a:spcAft>
                <a:spcPts val="1000"/>
              </a:spcAft>
              <a:defRPr sz="1300">
                <a:latin typeface="Arial"/>
              </a:defRPr>
            </a:pPr>
            <a:r>
              <a:rPr b="1">
                <a:solidFill>
                  <a:srgbClr val="1F4E79"/>
                </a:solidFill>
              </a:rPr>
              <a:t>• Quy tắc phân chia: </a:t>
            </a:r>
            <a:r>
              <a:rPr>
                <a:solidFill>
                  <a:srgbClr val="333333"/>
                </a:solidFill>
              </a:rPr>
              <a:t>Sử dụng hàm băm phân tán: pmod(xxhash64(clean_text), 1000).</a:t>
            </a:r>
          </a:p>
          <a:p>
            <a:pPr>
              <a:spcAft>
                <a:spcPts val="1000"/>
              </a:spcAft>
              <a:defRPr sz="1300">
                <a:latin typeface="Arial"/>
              </a:defRPr>
            </a:pPr>
            <a:r>
              <a:rPr b="1">
                <a:solidFill>
                  <a:srgbClr val="1F4E79"/>
                </a:solidFill>
              </a:rPr>
              <a:t>• Tập Train (70%): </a:t>
            </a:r>
            <a:r>
              <a:rPr>
                <a:solidFill>
                  <a:srgbClr val="333333"/>
                </a:solidFill>
              </a:rPr>
              <a:t>Các mẫu có hash &lt; 700 (106,209 dòng trên mẫu 10%).</a:t>
            </a:r>
          </a:p>
          <a:p>
            <a:pPr>
              <a:spcAft>
                <a:spcPts val="1000"/>
              </a:spcAft>
              <a:defRPr sz="1300">
                <a:latin typeface="Arial"/>
              </a:defRPr>
            </a:pPr>
            <a:r>
              <a:rPr b="1">
                <a:solidFill>
                  <a:srgbClr val="1F4E79"/>
                </a:solidFill>
              </a:rPr>
              <a:t>• Tập Validation (15%): </a:t>
            </a:r>
            <a:r>
              <a:rPr>
                <a:solidFill>
                  <a:srgbClr val="333333"/>
                </a:solidFill>
              </a:rPr>
              <a:t>Các mẫu có hash từ 700 đến 849 (22,826 dòng) dùng để tinh chỉnh siêu tham số.</a:t>
            </a:r>
          </a:p>
          <a:p>
            <a:pPr>
              <a:spcAft>
                <a:spcPts val="1000"/>
              </a:spcAft>
              <a:defRPr sz="1300">
                <a:latin typeface="Arial"/>
              </a:defRPr>
            </a:pPr>
            <a:r>
              <a:rPr b="1">
                <a:solidFill>
                  <a:srgbClr val="1F4E79"/>
                </a:solidFill>
              </a:rPr>
              <a:t>• Tập Test (15%): </a:t>
            </a:r>
            <a:r>
              <a:rPr>
                <a:solidFill>
                  <a:srgbClr val="333333"/>
                </a:solidFill>
              </a:rPr>
              <a:t>Các mẫu có hash &gt;= 850 (22,812 dòng) dùng để đánh giá độc lập khách quan.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515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2E75B6"/>
                </a:solidFill>
                <a:latin typeface="Arial"/>
              </a:defRPr>
            </a:pPr>
            <a:r>
              <a:t>ĐỒ ÁN MÔN: NHẬP MÔN BIG DATA — NHÓM 09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515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1F4E79"/>
                </a:solidFill>
                <a:latin typeface="Arial"/>
              </a:defRPr>
            </a:pPr>
            <a:r>
              <a:t>18. Huấn luyện và Tinh chỉnh Siêu tham số (Model Tuning)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0"/>
            <a:ext cx="106984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888888"/>
                </a:solidFill>
                <a:latin typeface="Arial"/>
              </a:defRPr>
            </a:pPr>
            <a:r>
              <a:t>Phân tích Twitter với Apache Spark  |  Nhóm 9  |  Trang 19/25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463040"/>
            <a:ext cx="5120640" cy="4572000"/>
          </a:xfrm>
          <a:prstGeom prst="roundRect">
            <a:avLst/>
          </a:prstGeom>
          <a:solidFill>
            <a:srgbClr val="F4F7FA"/>
          </a:solidFill>
          <a:ln w="19050">
            <a:solidFill>
              <a:srgbClr val="D0DC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645920"/>
            <a:ext cx="475488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b="1" sz="1400">
                <a:solidFill>
                  <a:srgbClr val="1F4E79"/>
                </a:solidFill>
              </a:defRPr>
            </a:pPr>
            <a:r>
              <a:t>THUẬT TOÁN LOGISTIC REGRESSION</a:t>
            </a:r>
          </a:p>
          <a:p>
            <a:pPr>
              <a:spcAft>
                <a:spcPts val="1000"/>
              </a:spcAft>
              <a:defRPr sz="1300">
                <a:latin typeface="Arial"/>
              </a:defRPr>
            </a:pPr>
            <a:r>
              <a:rPr b="1">
                <a:solidFill>
                  <a:srgbClr val="1F4E79"/>
                </a:solidFill>
              </a:rPr>
              <a:t>• Ưu thế trên Big Data: </a:t>
            </a:r>
            <a:r>
              <a:rPr>
                <a:solidFill>
                  <a:srgbClr val="333333"/>
                </a:solidFill>
              </a:rPr>
              <a:t>Khả năng mở rộng phân tán cực tốt, hội tụ nhanh với không gian đặc trưng lớn (32k chiều).</a:t>
            </a:r>
          </a:p>
          <a:p>
            <a:pPr>
              <a:spcAft>
                <a:spcPts val="1000"/>
              </a:spcAft>
              <a:defRPr sz="1300">
                <a:latin typeface="Arial"/>
              </a:defRPr>
            </a:pPr>
            <a:r>
              <a:rPr b="1">
                <a:solidFill>
                  <a:srgbClr val="1F4E79"/>
                </a:solidFill>
              </a:rPr>
              <a:t>• Hàm mất mát: </a:t>
            </a:r>
            <a:r>
              <a:rPr>
                <a:solidFill>
                  <a:srgbClr val="333333"/>
                </a:solidFill>
              </a:rPr>
              <a:t>Cross-entropy kết hợp hàm kích hoạt Sigmoid đưa ra xác suất dự đoán P(Positive).</a:t>
            </a:r>
          </a:p>
          <a:p>
            <a:pPr>
              <a:spcAft>
                <a:spcPts val="1000"/>
              </a:spcAft>
              <a:defRPr sz="1300">
                <a:latin typeface="Arial"/>
              </a:defRPr>
            </a:pPr>
            <a:r>
              <a:rPr b="1">
                <a:solidFill>
                  <a:srgbClr val="1F4E79"/>
                </a:solidFill>
              </a:rPr>
              <a:t>• Chính quy hóa L2: </a:t>
            </a:r>
            <a:r>
              <a:rPr>
                <a:solidFill>
                  <a:srgbClr val="333333"/>
                </a:solidFill>
              </a:rPr>
              <a:t>Áp dụng hệ số phạt Ridge (L2 penalty) để chống Overfitting khi số lượng đặc trưng lớn.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7920" y="1463040"/>
            <a:ext cx="5212080" cy="4572000"/>
          </a:xfrm>
          <a:prstGeom prst="roundRect">
            <a:avLst/>
          </a:prstGeom>
          <a:solidFill>
            <a:srgbClr val="F4F7FA"/>
          </a:solidFill>
          <a:ln w="19050">
            <a:solidFill>
              <a:srgbClr val="D0DC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0" y="1645920"/>
            <a:ext cx="484632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b="1" sz="1400">
                <a:solidFill>
                  <a:srgbClr val="1F4E79"/>
                </a:solidFill>
              </a:defRPr>
            </a:pPr>
            <a:r>
              <a:t>KẾT QUẢ TUNING TRÊN TẬP VALIDATION</a:t>
            </a:r>
          </a:p>
          <a:p>
            <a:pPr>
              <a:spcAft>
                <a:spcPts val="1000"/>
              </a:spcAft>
              <a:defRPr sz="1300">
                <a:latin typeface="Arial"/>
              </a:defRPr>
            </a:pPr>
            <a:r>
              <a:rPr b="1">
                <a:solidFill>
                  <a:srgbClr val="1F4E79"/>
                </a:solidFill>
              </a:rPr>
              <a:t>• Thử nghiệm regParam = 0.01: </a:t>
            </a:r>
            <a:r>
              <a:rPr>
                <a:solidFill>
                  <a:srgbClr val="333333"/>
                </a:solidFill>
              </a:rPr>
              <a:t>Validation Macro-F1: 0.7363 | Thời gian Fit: 12.22s.</a:t>
            </a:r>
          </a:p>
          <a:p>
            <a:pPr>
              <a:spcAft>
                <a:spcPts val="1000"/>
              </a:spcAft>
              <a:defRPr sz="1300">
                <a:latin typeface="Arial"/>
              </a:defRPr>
            </a:pPr>
            <a:r>
              <a:rPr b="1">
                <a:solidFill>
                  <a:srgbClr val="1F4E79"/>
                </a:solidFill>
              </a:rPr>
              <a:t>• Thử nghiệm regParam = 0.1: </a:t>
            </a:r>
            <a:r>
              <a:rPr>
                <a:solidFill>
                  <a:srgbClr val="333333"/>
                </a:solidFill>
              </a:rPr>
              <a:t>Validation Macro-F1: 0.7522 | Thời gian Fit: 7.23s.</a:t>
            </a:r>
          </a:p>
          <a:p>
            <a:pPr>
              <a:spcAft>
                <a:spcPts val="1000"/>
              </a:spcAft>
              <a:defRPr sz="1300">
                <a:latin typeface="Arial"/>
              </a:defRPr>
            </a:pPr>
            <a:r>
              <a:rPr b="1">
                <a:solidFill>
                  <a:srgbClr val="1F4E79"/>
                </a:solidFill>
              </a:rPr>
              <a:t>• Đối chứng Naive Bayes: </a:t>
            </a:r>
            <a:r>
              <a:rPr>
                <a:solidFill>
                  <a:srgbClr val="333333"/>
                </a:solidFill>
              </a:rPr>
              <a:t>Validation Macro-F1: 0.7244 | Thời gian Fit: 3.70s.</a:t>
            </a:r>
          </a:p>
          <a:p>
            <a:pPr>
              <a:spcAft>
                <a:spcPts val="1000"/>
              </a:spcAft>
              <a:defRPr sz="1300">
                <a:latin typeface="Arial"/>
              </a:defRPr>
            </a:pPr>
            <a:r>
              <a:rPr b="1">
                <a:solidFill>
                  <a:srgbClr val="1F4E79"/>
                </a:solidFill>
              </a:rPr>
              <a:t>• Mô hình được chọn: </a:t>
            </a:r>
            <a:r>
              <a:rPr>
                <a:solidFill>
                  <a:srgbClr val="333333"/>
                </a:solidFill>
              </a:rPr>
              <a:t>Logistic Regression với regParam = 0.1 đạt F1 cao nhất và thời gian huấn luyện tối ưu nhất.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515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2E75B6"/>
                </a:solidFill>
                <a:latin typeface="Arial"/>
              </a:defRPr>
            </a:pPr>
            <a:r>
              <a:t>ĐỒ ÁN MÔN: NHẬP MÔN BIG DATA — NHÓM 09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515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1F4E79"/>
                </a:solidFill>
                <a:latin typeface="Arial"/>
              </a:defRPr>
            </a:pPr>
            <a:r>
              <a:t>19. Kết quả Đánh giá Mô hình trên Tập Kiểm thử (Test Set)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0"/>
            <a:ext cx="106984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888888"/>
                </a:solidFill>
                <a:latin typeface="Arial"/>
              </a:defRPr>
            </a:pPr>
            <a:r>
              <a:t>Phân tích Twitter với Apache Spark  |  Nhóm 9  |  Trang 20/25</a:t>
            </a:r>
          </a:p>
        </p:txBody>
      </p:sp>
      <p:pic>
        <p:nvPicPr>
          <p:cNvPr id="5" name="Picture 4" descr="confusion_matrix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463040"/>
            <a:ext cx="5029200" cy="4074583"/>
          </a:xfrm>
          <a:prstGeom prst="rect">
            <a:avLst/>
          </a:prstGeom>
        </p:spPr>
      </p:pic>
      <p:sp>
        <p:nvSpPr>
          <p:cNvPr id="6" name="Rounded Rectangle 5"/>
          <p:cNvSpPr/>
          <p:nvPr/>
        </p:nvSpPr>
        <p:spPr>
          <a:xfrm>
            <a:off x="6035040" y="1463040"/>
            <a:ext cx="5394960" cy="4572000"/>
          </a:xfrm>
          <a:prstGeom prst="roundRect">
            <a:avLst/>
          </a:prstGeom>
          <a:solidFill>
            <a:srgbClr val="F4F7FA"/>
          </a:solidFill>
          <a:ln w="19050">
            <a:solidFill>
              <a:srgbClr val="D0DC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6217920" y="1645920"/>
          <a:ext cx="5029200" cy="20116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57300"/>
                <a:gridCol w="1257300"/>
                <a:gridCol w="1257300"/>
                <a:gridCol w="1257300"/>
              </a:tblGrid>
              <a:tr h="502920"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Arial"/>
                        </a:rPr>
                        <a:t>Mô hình</a:t>
                      </a:r>
                    </a:p>
                  </a:txBody>
                  <a:tcPr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Arial"/>
                        </a:rPr>
                        <a:t>Accuracy</a:t>
                      </a:r>
                    </a:p>
                  </a:txBody>
                  <a:tcPr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Arial"/>
                        </a:rPr>
                        <a:t>Macro-F1</a:t>
                      </a:r>
                    </a:p>
                  </a:txBody>
                  <a:tcPr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Arial"/>
                        </a:rPr>
                        <a:t>Nhận xét</a:t>
                      </a:r>
                    </a:p>
                  </a:txBody>
                  <a:tcPr>
                    <a:solidFill>
                      <a:srgbClr val="1F4E79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latin typeface="Arial"/>
                        </a:rPr>
                        <a:t>Baseline (Đa số)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latin typeface="Arial"/>
                        </a:rPr>
                        <a:t>50.49%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latin typeface="Arial"/>
                        </a:rPr>
                        <a:t>0.3355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latin typeface="Arial"/>
                        </a:rPr>
                        <a:t>Mức sàn ngẫu nhiên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latin typeface="Arial"/>
                        </a:rPr>
                        <a:t>Naive Bayes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latin typeface="Arial"/>
                        </a:rPr>
                        <a:t>72.44%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latin typeface="Arial"/>
                        </a:rPr>
                        <a:t>0.7244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latin typeface="Arial"/>
                        </a:rPr>
                        <a:t>Mô hình đối chứng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latin typeface="Arial"/>
                        </a:rPr>
                        <a:t>Logistic Regression</a:t>
                      </a:r>
                    </a:p>
                  </a:txBody>
                  <a:tcPr>
                    <a:solidFill>
                      <a:srgbClr val="EAF2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latin typeface="Arial"/>
                        </a:rPr>
                        <a:t>74.75%</a:t>
                      </a:r>
                    </a:p>
                  </a:txBody>
                  <a:tcPr>
                    <a:solidFill>
                      <a:srgbClr val="EAF2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latin typeface="Arial"/>
                        </a:rPr>
                        <a:t>0.7475</a:t>
                      </a:r>
                    </a:p>
                  </a:txBody>
                  <a:tcPr>
                    <a:solidFill>
                      <a:srgbClr val="EAF2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latin typeface="Arial"/>
                        </a:rPr>
                        <a:t>Tối ưu và cân bằng nhất</a:t>
                      </a:r>
                    </a:p>
                  </a:txBody>
                  <a:tcPr>
                    <a:solidFill>
                      <a:srgbClr val="EAF2F8"/>
                    </a:solidFill>
                  </a:tcPr>
                </a:tc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6217920" y="3931920"/>
            <a:ext cx="502920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b="1" sz="1200">
                <a:solidFill>
                  <a:srgbClr val="1F4E79"/>
                </a:solidFill>
              </a:defRPr>
            </a:pPr>
            <a:r>
              <a:t>PHÂN TÍCH MA TRẬN NHẦM LẪN:</a:t>
            </a:r>
          </a:p>
          <a:p>
            <a:pPr>
              <a:spcAft>
                <a:spcPts val="1000"/>
              </a:spcAft>
              <a:defRPr sz="1300">
                <a:latin typeface="Arial"/>
              </a:defRPr>
            </a:pPr>
            <a:r>
              <a:rPr b="1">
                <a:solidFill>
                  <a:srgbClr val="1F4E79"/>
                </a:solidFill>
              </a:rPr>
              <a:t>• Độ chính xác cao: </a:t>
            </a:r>
            <a:r>
              <a:rPr>
                <a:solidFill>
                  <a:srgbClr val="333333"/>
                </a:solidFill>
              </a:rPr>
              <a:t>Mô hình phân loại đúng 8,465 mẫu tiêu cực (TN) và 8,586 mẫu tích cực (TP).</a:t>
            </a:r>
          </a:p>
          <a:p>
            <a:pPr>
              <a:spcAft>
                <a:spcPts val="1000"/>
              </a:spcAft>
              <a:defRPr sz="1300">
                <a:latin typeface="Arial"/>
              </a:defRPr>
            </a:pPr>
            <a:r>
              <a:rPr b="1">
                <a:solidFill>
                  <a:srgbClr val="1F4E79"/>
                </a:solidFill>
              </a:rPr>
              <a:t>• Cân bằng tuyệt đối: </a:t>
            </a:r>
            <a:r>
              <a:rPr>
                <a:solidFill>
                  <a:srgbClr val="333333"/>
                </a:solidFill>
              </a:rPr>
              <a:t>Tỷ lệ dự đoán đúng hai lớp đồng đều nhau (~74.8%), chứng minh mô hình không bị thiên vị hay lệch lớp.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515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2E75B6"/>
                </a:solidFill>
                <a:latin typeface="Arial"/>
              </a:defRPr>
            </a:pPr>
            <a:r>
              <a:t>ĐỒ ÁN MÔN: NHẬP MÔN BIG DATA — NHÓM 09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515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1F4E79"/>
                </a:solidFill>
                <a:latin typeface="Arial"/>
              </a:defRPr>
            </a:pPr>
            <a:r>
              <a:t>20. Đo lường Hiệu năng Bộ nhớ đệm (Spark Caching Benchmark)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0"/>
            <a:ext cx="106984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888888"/>
                </a:solidFill>
                <a:latin typeface="Arial"/>
              </a:defRPr>
            </a:pPr>
            <a:r>
              <a:t>Phân tích Twitter với Apache Spark  |  Nhóm 9  |  Trang 21/25</a:t>
            </a:r>
          </a:p>
        </p:txBody>
      </p:sp>
      <p:pic>
        <p:nvPicPr>
          <p:cNvPr id="5" name="Picture 4" descr="performanc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463040"/>
            <a:ext cx="6217920" cy="3668622"/>
          </a:xfrm>
          <a:prstGeom prst="rect">
            <a:avLst/>
          </a:prstGeom>
        </p:spPr>
      </p:pic>
      <p:sp>
        <p:nvSpPr>
          <p:cNvPr id="6" name="Rounded Rectangle 5"/>
          <p:cNvSpPr/>
          <p:nvPr/>
        </p:nvSpPr>
        <p:spPr>
          <a:xfrm>
            <a:off x="7132320" y="1463040"/>
            <a:ext cx="4297680" cy="4572000"/>
          </a:xfrm>
          <a:prstGeom prst="roundRect">
            <a:avLst/>
          </a:prstGeom>
          <a:solidFill>
            <a:srgbClr val="F4F7FA"/>
          </a:solidFill>
          <a:ln w="19050">
            <a:solidFill>
              <a:srgbClr val="D0DC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0" y="1645920"/>
            <a:ext cx="393192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b="1" sz="1400">
                <a:solidFill>
                  <a:srgbClr val="1F4E79"/>
                </a:solidFill>
              </a:defRPr>
            </a:pPr>
            <a:r>
              <a:t>Ý NGHĨA CỦA SPARK CACHE()</a:t>
            </a:r>
          </a:p>
          <a:p>
            <a:pPr>
              <a:spcAft>
                <a:spcPts val="1000"/>
              </a:spcAft>
              <a:defRPr sz="1300">
                <a:latin typeface="Arial"/>
              </a:defRPr>
            </a:pPr>
            <a:r>
              <a:rPr b="1">
                <a:solidFill>
                  <a:srgbClr val="1F4E79"/>
                </a:solidFill>
              </a:rPr>
              <a:t>• Cơ chế In-memory: </a:t>
            </a:r>
            <a:r>
              <a:rPr>
                <a:solidFill>
                  <a:srgbClr val="333333"/>
                </a:solidFill>
              </a:rPr>
              <a:t>Khi gọi .cache(), kết quả tính toán của DataFrame được lưu trữ trực tiếp trong bộ nhớ RAM của Worker nodes.</a:t>
            </a:r>
          </a:p>
          <a:p>
            <a:pPr>
              <a:spcAft>
                <a:spcPts val="1000"/>
              </a:spcAft>
              <a:defRPr sz="1300">
                <a:latin typeface="Arial"/>
              </a:defRPr>
            </a:pPr>
            <a:r>
              <a:rPr b="1">
                <a:solidFill>
                  <a:srgbClr val="1F4E79"/>
                </a:solidFill>
              </a:rPr>
              <a:t>• Tránh tính toán lại (Recompute): </a:t>
            </a:r>
            <a:r>
              <a:rPr>
                <a:solidFill>
                  <a:srgbClr val="333333"/>
                </a:solidFill>
              </a:rPr>
              <a:t>Các lượt truy vấn thứ 2 và thứ 3 đọc thẳng từ RAM, không cần quét lại từ đĩa hay lặp lại các phép biến đổi rườm rà.</a:t>
            </a:r>
          </a:p>
          <a:p>
            <a:pPr>
              <a:spcAft>
                <a:spcPts val="1000"/>
              </a:spcAft>
              <a:defRPr sz="1300">
                <a:latin typeface="Arial"/>
              </a:defRPr>
            </a:pPr>
            <a:r>
              <a:rPr b="1">
                <a:solidFill>
                  <a:srgbClr val="1F4E79"/>
                </a:solidFill>
              </a:rPr>
              <a:t>• Khuyến nghị vận hành: </a:t>
            </a:r>
            <a:r>
              <a:rPr>
                <a:solidFill>
                  <a:srgbClr val="333333"/>
                </a:solidFill>
              </a:rPr>
              <a:t>Nên áp dụng Caching cho các DataFrame được tái sử dụng nhiều lần (như trong huấn luyện lặp ML) và giải phóng bằng unpersist() ngay khi hoàn tất.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515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2E75B6"/>
                </a:solidFill>
                <a:latin typeface="Arial"/>
              </a:defRPr>
            </a:pPr>
            <a:r>
              <a:t>ĐỒ ÁN MÔN: NHẬP MÔN BIG DATA — NHÓM 09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515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1F4E79"/>
                </a:solidFill>
                <a:latin typeface="Arial"/>
              </a:defRPr>
            </a:pPr>
            <a:r>
              <a:t>21. Giao diện Desktop GUI &amp; Đảm bảo Chất lượng Mã nguồn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0"/>
            <a:ext cx="106984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888888"/>
                </a:solidFill>
                <a:latin typeface="Arial"/>
              </a:defRPr>
            </a:pPr>
            <a:r>
              <a:t>Phân tích Twitter với Apache Spark  |  Nhóm 9  |  Trang 22/25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463040"/>
            <a:ext cx="5120640" cy="4572000"/>
          </a:xfrm>
          <a:prstGeom prst="roundRect">
            <a:avLst/>
          </a:prstGeom>
          <a:solidFill>
            <a:srgbClr val="F4F7FA"/>
          </a:solidFill>
          <a:ln w="19050">
            <a:solidFill>
              <a:srgbClr val="D0DC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645920"/>
            <a:ext cx="475488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b="1" sz="1400">
                <a:solidFill>
                  <a:srgbClr val="1F4E79"/>
                </a:solidFill>
              </a:defRPr>
            </a:pPr>
            <a:r>
              <a:t>GIAO DIỆN DESKTOP GUI (TKINTER)</a:t>
            </a:r>
          </a:p>
          <a:p>
            <a:pPr>
              <a:spcAft>
                <a:spcPts val="1000"/>
              </a:spcAft>
              <a:defRPr sz="1300">
                <a:latin typeface="Arial"/>
              </a:defRPr>
            </a:pPr>
            <a:r>
              <a:rPr b="1">
                <a:solidFill>
                  <a:srgbClr val="1F4E79"/>
                </a:solidFill>
              </a:rPr>
              <a:t>• Chuyển đổi nguồn linh hoạt: </a:t>
            </a:r>
            <a:r>
              <a:rPr>
                <a:solidFill>
                  <a:srgbClr val="333333"/>
                </a:solidFill>
              </a:rPr>
              <a:t>Hỗ trợ chọn đọc dữ liệu từ Local File System hoặc Hadoop HDFS URI chỉ bằng 1 cú nhấp chuột.</a:t>
            </a:r>
          </a:p>
          <a:p>
            <a:pPr>
              <a:spcAft>
                <a:spcPts val="1000"/>
              </a:spcAft>
              <a:defRPr sz="1300">
                <a:latin typeface="Arial"/>
              </a:defRPr>
            </a:pPr>
            <a:r>
              <a:rPr b="1">
                <a:solidFill>
                  <a:srgbClr val="1F4E79"/>
                </a:solidFill>
              </a:rPr>
              <a:t>• Điều khiển Pipeline: </a:t>
            </a:r>
            <a:r>
              <a:rPr>
                <a:solidFill>
                  <a:srgbClr val="333333"/>
                </a:solidFill>
              </a:rPr>
              <a:t>Các nút bấm chạy độc lập từng bước (Prepare, Analyze, Train, Benchmark) hoặc chạy toàn bộ (Run All).</a:t>
            </a:r>
          </a:p>
          <a:p>
            <a:pPr>
              <a:spcAft>
                <a:spcPts val="1000"/>
              </a:spcAft>
              <a:defRPr sz="1300">
                <a:latin typeface="Arial"/>
              </a:defRPr>
            </a:pPr>
            <a:r>
              <a:rPr b="1">
                <a:solidFill>
                  <a:srgbClr val="1F4E79"/>
                </a:solidFill>
              </a:rPr>
              <a:t>• Giám sát thời gian thực: </a:t>
            </a:r>
            <a:r>
              <a:rPr>
                <a:solidFill>
                  <a:srgbClr val="333333"/>
                </a:solidFill>
              </a:rPr>
              <a:t>Tích hợp Console Log đa luồng (threading) không gây đóng băng giao diện khi Spark đang tính toán.</a:t>
            </a:r>
          </a:p>
          <a:p>
            <a:pPr>
              <a:spcAft>
                <a:spcPts val="1000"/>
              </a:spcAft>
              <a:defRPr sz="1300">
                <a:latin typeface="Arial"/>
              </a:defRPr>
            </a:pPr>
            <a:r>
              <a:rPr b="1">
                <a:solidFill>
                  <a:srgbClr val="1F4E79"/>
                </a:solidFill>
              </a:rPr>
              <a:t>• Demo suy luận cảm xúc: </a:t>
            </a:r>
            <a:r>
              <a:rPr>
                <a:solidFill>
                  <a:srgbClr val="333333"/>
                </a:solidFill>
              </a:rPr>
              <a:t>Ô nhập câu tweet tiếng Anh bất kỳ và nhận kết quả dự đoán kèm xác suất %.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7920" y="1463040"/>
            <a:ext cx="5212080" cy="4572000"/>
          </a:xfrm>
          <a:prstGeom prst="roundRect">
            <a:avLst/>
          </a:prstGeom>
          <a:solidFill>
            <a:srgbClr val="F4F7FA"/>
          </a:solidFill>
          <a:ln w="19050">
            <a:solidFill>
              <a:srgbClr val="D0DC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0" y="1645920"/>
            <a:ext cx="484632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b="1" sz="1400">
                <a:solidFill>
                  <a:srgbClr val="1F4E79"/>
                </a:solidFill>
              </a:defRPr>
            </a:pPr>
            <a:r>
              <a:t>KIỂM THỬ MÃ NGUỒN TỰ ĐỘNG (CI/UNIT TESTS)</a:t>
            </a:r>
          </a:p>
          <a:p>
            <a:pPr>
              <a:spcAft>
                <a:spcPts val="1000"/>
              </a:spcAft>
              <a:defRPr sz="1300">
                <a:latin typeface="Arial"/>
              </a:defRPr>
            </a:pPr>
            <a:r>
              <a:rPr b="1">
                <a:solidFill>
                  <a:srgbClr val="1F4E79"/>
                </a:solidFill>
              </a:rPr>
              <a:t>• Bộ 13 Unit Tests tự động: </a:t>
            </a:r>
            <a:r>
              <a:rPr>
                <a:solidFill>
                  <a:srgbClr val="333333"/>
                </a:solidFill>
              </a:rPr>
              <a:t>Bảo vệ toàn diện các module: làm sạch (cleaning), trích xuất đặc trưng, huấn luyện ML, benchmark, GUI và sinh báo cáo.</a:t>
            </a:r>
          </a:p>
          <a:p>
            <a:pPr>
              <a:spcAft>
                <a:spcPts val="1000"/>
              </a:spcAft>
              <a:defRPr sz="1300">
                <a:latin typeface="Arial"/>
              </a:defRPr>
            </a:pPr>
            <a:r>
              <a:rPr b="1">
                <a:solidFill>
                  <a:srgbClr val="1F4E79"/>
                </a:solidFill>
              </a:rPr>
              <a:t>• Kiểm thử không phụ thuộc Spark nặng: </a:t>
            </a:r>
            <a:r>
              <a:rPr>
                <a:solidFill>
                  <a:srgbClr val="333333"/>
                </a:solidFill>
              </a:rPr>
              <a:t>Sử dụng synthetic smoke-test data (400 dòng) giúp chạy kiểm thử toàn bộ hệ thống chỉ mất dưới 0.1 giây.</a:t>
            </a:r>
          </a:p>
          <a:p>
            <a:pPr>
              <a:spcAft>
                <a:spcPts val="1000"/>
              </a:spcAft>
              <a:defRPr sz="1300">
                <a:latin typeface="Arial"/>
              </a:defRPr>
            </a:pPr>
            <a:r>
              <a:rPr b="1">
                <a:solidFill>
                  <a:srgbClr val="1F4E79"/>
                </a:solidFill>
              </a:rPr>
              <a:t>• Kết quả thực tế: </a:t>
            </a:r>
            <a:r>
              <a:rPr>
                <a:solidFill>
                  <a:srgbClr val="333333"/>
                </a:solidFill>
              </a:rPr>
              <a:t>13/13 tests PASSED 100%, đảm bảo hệ thống không phát sinh lỗi hồi quy (regression).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515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2E75B6"/>
                </a:solidFill>
                <a:latin typeface="Arial"/>
              </a:defRPr>
            </a:pPr>
            <a:r>
              <a:t>ĐỒ ÁN MÔN: NHẬP MÔN BIG DATA — NHÓM 09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515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1F4E79"/>
                </a:solidFill>
                <a:latin typeface="Arial"/>
              </a:defRPr>
            </a:pPr>
            <a:r>
              <a:t>22. Phân công Công việc và Đóng góp của Thành viên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0"/>
            <a:ext cx="106984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888888"/>
                </a:solidFill>
                <a:latin typeface="Arial"/>
              </a:defRPr>
            </a:pPr>
            <a:r>
              <a:t>Phân tích Twitter với Apache Spark  |  Nhóm 9  |  Trang 23/25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463040"/>
            <a:ext cx="5120640" cy="4572000"/>
          </a:xfrm>
          <a:prstGeom prst="roundRect">
            <a:avLst/>
          </a:prstGeom>
          <a:solidFill>
            <a:srgbClr val="F4F7FA"/>
          </a:solidFill>
          <a:ln w="19050">
            <a:solidFill>
              <a:srgbClr val="D0DC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645920"/>
            <a:ext cx="475488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1300">
                <a:solidFill>
                  <a:srgbClr val="1F4E79"/>
                </a:solidFill>
              </a:defRPr>
            </a:pPr>
            <a:r>
              <a:t>VÕ MINH CẢNH (MSSV: 2001230065)</a:t>
            </a:r>
          </a:p>
          <a:p>
            <a:pPr>
              <a:spcAft>
                <a:spcPts val="1000"/>
              </a:spcAft>
              <a:defRPr b="1" sz="1100">
                <a:solidFill>
                  <a:srgbClr val="2E75B6"/>
                </a:solidFill>
              </a:defRPr>
            </a:pPr>
            <a:r>
              <a:t>Nhóm trưởng  |  Phụ trách Xử lý &amp; Học máy</a:t>
            </a:r>
          </a:p>
          <a:p>
            <a:pPr>
              <a:spcAft>
                <a:spcPts val="1000"/>
              </a:spcAft>
              <a:defRPr sz="1300">
                <a:latin typeface="Arial"/>
              </a:defRPr>
            </a:pPr>
            <a:r>
              <a:rPr b="1">
                <a:solidFill>
                  <a:srgbClr val="1F4E79"/>
                </a:solidFill>
              </a:rPr>
              <a:t>• Tuần 1: </a:t>
            </a:r>
            <a:r>
              <a:rPr>
                <a:solidFill>
                  <a:srgbClr val="333333"/>
                </a:solidFill>
              </a:rPr>
              <a:t>Cài đặt môi trường Python, PySpark; thiết lập cấu trúc mã nguồn dự án.</a:t>
            </a:r>
          </a:p>
          <a:p>
            <a:pPr>
              <a:spcAft>
                <a:spcPts val="1000"/>
              </a:spcAft>
              <a:defRPr sz="1300">
                <a:latin typeface="Arial"/>
              </a:defRPr>
            </a:pPr>
            <a:r>
              <a:rPr b="1">
                <a:solidFill>
                  <a:srgbClr val="1F4E79"/>
                </a:solidFill>
              </a:rPr>
              <a:t>• Tuần 2: </a:t>
            </a:r>
            <a:r>
              <a:rPr>
                <a:solidFill>
                  <a:srgbClr val="333333"/>
                </a:solidFill>
              </a:rPr>
              <a:t>Viết module làm sạch văn bản (cleaning.py), xử lý regex và chuẩn hóa Parquet.</a:t>
            </a:r>
          </a:p>
          <a:p>
            <a:pPr>
              <a:spcAft>
                <a:spcPts val="1000"/>
              </a:spcAft>
              <a:defRPr sz="1300">
                <a:latin typeface="Arial"/>
              </a:defRPr>
            </a:pPr>
            <a:r>
              <a:rPr b="1">
                <a:solidFill>
                  <a:srgbClr val="1F4E79"/>
                </a:solidFill>
              </a:rPr>
              <a:t>• Tuần 3: </a:t>
            </a:r>
            <a:r>
              <a:rPr>
                <a:solidFill>
                  <a:srgbClr val="333333"/>
                </a:solidFill>
              </a:rPr>
              <a:t>Xây dựng Pipeline Spark MLlib (TF-IDF + Logistic Regression), tuning siêu tham số.</a:t>
            </a:r>
          </a:p>
          <a:p>
            <a:pPr>
              <a:spcAft>
                <a:spcPts val="1000"/>
              </a:spcAft>
              <a:defRPr sz="1300">
                <a:latin typeface="Arial"/>
              </a:defRPr>
            </a:pPr>
            <a:r>
              <a:rPr b="1">
                <a:solidFill>
                  <a:srgbClr val="1F4E79"/>
                </a:solidFill>
              </a:rPr>
              <a:t>• Tuần 4: </a:t>
            </a:r>
            <a:r>
              <a:rPr>
                <a:solidFill>
                  <a:srgbClr val="333333"/>
                </a:solidFill>
              </a:rPr>
              <a:t>Lập trình giao diện Desktop GUI demo, viết bộ Unit Tests và kịch bản demo.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7920" y="1463040"/>
            <a:ext cx="5212080" cy="4572000"/>
          </a:xfrm>
          <a:prstGeom prst="roundRect">
            <a:avLst/>
          </a:prstGeom>
          <a:solidFill>
            <a:srgbClr val="F4F7FA"/>
          </a:solidFill>
          <a:ln w="19050">
            <a:solidFill>
              <a:srgbClr val="D0DC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0" y="1645920"/>
            <a:ext cx="484632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1300">
                <a:solidFill>
                  <a:srgbClr val="1F4E79"/>
                </a:solidFill>
              </a:defRPr>
            </a:pPr>
            <a:r>
              <a:t>HỒ THỊ THANH NHÃ (MSSV: 2001230592)</a:t>
            </a:r>
          </a:p>
          <a:p>
            <a:pPr>
              <a:spcAft>
                <a:spcPts val="1000"/>
              </a:spcAft>
              <a:defRPr b="1" sz="1100">
                <a:solidFill>
                  <a:srgbClr val="2E75B6"/>
                </a:solidFill>
              </a:defRPr>
            </a:pPr>
            <a:r>
              <a:t>Thành viên  |  Phụ trách Hạ tầng &amp; Phân tích</a:t>
            </a:r>
          </a:p>
          <a:p>
            <a:pPr>
              <a:spcAft>
                <a:spcPts val="1000"/>
              </a:spcAft>
              <a:defRPr sz="1300">
                <a:latin typeface="Arial"/>
              </a:defRPr>
            </a:pPr>
            <a:r>
              <a:rPr b="1">
                <a:solidFill>
                  <a:srgbClr val="1F4E79"/>
                </a:solidFill>
              </a:rPr>
              <a:t>• Tuần 1: </a:t>
            </a:r>
            <a:r>
              <a:rPr>
                <a:solidFill>
                  <a:srgbClr val="333333"/>
                </a:solidFill>
              </a:rPr>
              <a:t>Khảo sát kiến trúc Hadoop HDFS, cấu hình NameNode/DataNode Docker.</a:t>
            </a:r>
          </a:p>
          <a:p>
            <a:pPr>
              <a:spcAft>
                <a:spcPts val="1000"/>
              </a:spcAft>
              <a:defRPr sz="1300">
                <a:latin typeface="Arial"/>
              </a:defRPr>
            </a:pPr>
            <a:r>
              <a:rPr b="1">
                <a:solidFill>
                  <a:srgbClr val="1F4E79"/>
                </a:solidFill>
              </a:rPr>
              <a:t>• Tuần 2: </a:t>
            </a:r>
            <a:r>
              <a:rPr>
                <a:solidFill>
                  <a:srgbClr val="333333"/>
                </a:solidFill>
              </a:rPr>
              <a:t>Nạp dữ liệu vào HDFS; viết các truy vấn Spark SQL thống kê hành vi (EDA).</a:t>
            </a:r>
          </a:p>
          <a:p>
            <a:pPr>
              <a:spcAft>
                <a:spcPts val="1000"/>
              </a:spcAft>
              <a:defRPr sz="1300">
                <a:latin typeface="Arial"/>
              </a:defRPr>
            </a:pPr>
            <a:r>
              <a:rPr b="1">
                <a:solidFill>
                  <a:srgbClr val="1F4E79"/>
                </a:solidFill>
              </a:rPr>
              <a:t>• Tuần 3: </a:t>
            </a:r>
            <a:r>
              <a:rPr>
                <a:solidFill>
                  <a:srgbClr val="333333"/>
                </a:solidFill>
              </a:rPr>
              <a:t>Huấn luyện mô hình đối chứng Naive Bayes, thực hiện Benchmark Spark Cache.</a:t>
            </a:r>
          </a:p>
          <a:p>
            <a:pPr>
              <a:spcAft>
                <a:spcPts val="1000"/>
              </a:spcAft>
              <a:defRPr sz="1300">
                <a:latin typeface="Arial"/>
              </a:defRPr>
            </a:pPr>
            <a:r>
              <a:rPr b="1">
                <a:solidFill>
                  <a:srgbClr val="1F4E79"/>
                </a:solidFill>
              </a:rPr>
              <a:t>• Tuần 4: </a:t>
            </a:r>
            <a:r>
              <a:rPr>
                <a:solidFill>
                  <a:srgbClr val="333333"/>
                </a:solidFill>
              </a:rPr>
              <a:t>Thực nghiệm so sánh lưu trữ CSV vs Parquet; hoàn thiện tài liệu báo cáo cuối kỳ.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515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2E75B6"/>
                </a:solidFill>
                <a:latin typeface="Arial"/>
              </a:defRPr>
            </a:pPr>
            <a:r>
              <a:t>ĐỒ ÁN MÔN: NHẬP MÔN BIG DATA — NHÓM 09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515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1F4E79"/>
                </a:solidFill>
                <a:latin typeface="Arial"/>
              </a:defRPr>
            </a:pPr>
            <a:r>
              <a:t>23. Khó khăn Kỹ thuật Đã Giải quyết &amp; Hướng Phát triển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0"/>
            <a:ext cx="106984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888888"/>
                </a:solidFill>
                <a:latin typeface="Arial"/>
              </a:defRPr>
            </a:pPr>
            <a:r>
              <a:t>Phân tích Twitter với Apache Spark  |  Nhóm 9  |  Trang 24/25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463040"/>
            <a:ext cx="5120640" cy="4572000"/>
          </a:xfrm>
          <a:prstGeom prst="roundRect">
            <a:avLst/>
          </a:prstGeom>
          <a:solidFill>
            <a:srgbClr val="F4F7FA"/>
          </a:solidFill>
          <a:ln w="19050">
            <a:solidFill>
              <a:srgbClr val="D0DC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645920"/>
            <a:ext cx="475488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b="1" sz="1300">
                <a:solidFill>
                  <a:srgbClr val="1F4E79"/>
                </a:solidFill>
              </a:defRPr>
            </a:pPr>
            <a:r>
              <a:t>CÁC KHÓ KHĂN KỸ THUẬT ĐÃ VƯỢT QUA</a:t>
            </a:r>
          </a:p>
          <a:p>
            <a:pPr>
              <a:spcAft>
                <a:spcPts val="1000"/>
              </a:spcAft>
              <a:defRPr sz="1300">
                <a:latin typeface="Arial"/>
              </a:defRPr>
            </a:pPr>
            <a:r>
              <a:rPr b="1">
                <a:solidFill>
                  <a:srgbClr val="1F4E79"/>
                </a:solidFill>
              </a:rPr>
              <a:t>• Lỗi Hadoop Native trên Windows: </a:t>
            </a:r>
            <a:r>
              <a:rPr>
                <a:solidFill>
                  <a:srgbClr val="333333"/>
                </a:solidFill>
              </a:rPr>
              <a:t>Giải quyết triệt để bằng cách đóng gói cụm HDFS vào Docker Linux container chuẩn.</a:t>
            </a:r>
          </a:p>
          <a:p>
            <a:pPr>
              <a:spcAft>
                <a:spcPts val="1000"/>
              </a:spcAft>
              <a:defRPr sz="1300">
                <a:latin typeface="Arial"/>
              </a:defRPr>
            </a:pPr>
            <a:r>
              <a:rPr b="1">
                <a:solidFill>
                  <a:srgbClr val="1F4E79"/>
                </a:solidFill>
              </a:rPr>
              <a:t>• Rò rỉ dữ liệu (Data Leakage): </a:t>
            </a:r>
            <a:r>
              <a:rPr>
                <a:solidFill>
                  <a:srgbClr val="333333"/>
                </a:solidFill>
              </a:rPr>
              <a:t>Khử sạch 2,361 nhóm câu trùng văn bản khác nhãn và dùng hàm băm xác định để phân tách tập.</a:t>
            </a:r>
          </a:p>
          <a:p>
            <a:pPr>
              <a:spcAft>
                <a:spcPts val="1000"/>
              </a:spcAft>
              <a:defRPr sz="1300">
                <a:latin typeface="Arial"/>
              </a:defRPr>
            </a:pPr>
            <a:r>
              <a:rPr b="1">
                <a:solidFill>
                  <a:srgbClr val="1F4E79"/>
                </a:solidFill>
              </a:rPr>
              <a:t>• Tràn bộ nhớ đệm JVM: </a:t>
            </a:r>
            <a:r>
              <a:rPr>
                <a:solidFill>
                  <a:srgbClr val="333333"/>
                </a:solidFill>
              </a:rPr>
              <a:t>Điều chỉnh cấu hình shuffle partitions và cấp phát heap RAM hợp lý.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7920" y="1463040"/>
            <a:ext cx="5212080" cy="4572000"/>
          </a:xfrm>
          <a:prstGeom prst="roundRect">
            <a:avLst/>
          </a:prstGeom>
          <a:solidFill>
            <a:srgbClr val="F4F7FA"/>
          </a:solidFill>
          <a:ln w="19050">
            <a:solidFill>
              <a:srgbClr val="D0DC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0" y="1645920"/>
            <a:ext cx="484632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b="1" sz="1300">
                <a:solidFill>
                  <a:srgbClr val="1F4E79"/>
                </a:solidFill>
              </a:defRPr>
            </a:pPr>
            <a:r>
              <a:t>CÁC ĐỊNH HƯỚNG PHÁT TRIỂN TIẾP THEO</a:t>
            </a:r>
          </a:p>
          <a:p>
            <a:pPr>
              <a:spcAft>
                <a:spcPts val="1000"/>
              </a:spcAft>
              <a:defRPr sz="1300">
                <a:latin typeface="Arial"/>
              </a:defRPr>
            </a:pPr>
            <a:r>
              <a:rPr b="1">
                <a:solidFill>
                  <a:srgbClr val="1F4E79"/>
                </a:solidFill>
              </a:rPr>
              <a:t>• Tích hợp Streaming Path: </a:t>
            </a:r>
            <a:r>
              <a:rPr>
                <a:solidFill>
                  <a:srgbClr val="333333"/>
                </a:solidFill>
              </a:rPr>
              <a:t>Kết hợp Apache Kafka và Spark Structured Streaming để nhận và phân loại luồng tweet theo thời gian thực (đạt Lambda Architecture).</a:t>
            </a:r>
          </a:p>
          <a:p>
            <a:pPr>
              <a:spcAft>
                <a:spcPts val="1000"/>
              </a:spcAft>
              <a:defRPr sz="1300">
                <a:latin typeface="Arial"/>
              </a:defRPr>
            </a:pPr>
            <a:r>
              <a:rPr b="1">
                <a:solidFill>
                  <a:srgbClr val="1F4E79"/>
                </a:solidFill>
              </a:rPr>
              <a:t>• Bổ sung đặc trưng N-gram: </a:t>
            </a:r>
            <a:r>
              <a:rPr>
                <a:solidFill>
                  <a:srgbClr val="333333"/>
                </a:solidFill>
              </a:rPr>
              <a:t>Tích hợp NGram(n=2) để phân biệt các cụm từ đảo ngữ như 'not good', 'never like'.</a:t>
            </a:r>
          </a:p>
          <a:p>
            <a:pPr>
              <a:spcAft>
                <a:spcPts val="1000"/>
              </a:spcAft>
              <a:defRPr sz="1300">
                <a:latin typeface="Arial"/>
              </a:defRPr>
            </a:pPr>
            <a:r>
              <a:rPr b="1">
                <a:solidFill>
                  <a:srgbClr val="1F4E79"/>
                </a:solidFill>
              </a:rPr>
              <a:t>• Nâng cấp Web Dashboard: </a:t>
            </a:r>
            <a:r>
              <a:rPr>
                <a:solidFill>
                  <a:srgbClr val="333333"/>
                </a:solidFill>
              </a:rPr>
              <a:t>Chuyển đổi giao diện Tkinter sang nền tảng Web tương tác hiện đại bằng Streamlit / Plotly.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52C4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914400" y="1097280"/>
            <a:ext cx="10362895" cy="4663440"/>
          </a:xfrm>
          <a:prstGeom prst="roundRect">
            <a:avLst/>
          </a:prstGeom>
          <a:solidFill>
            <a:srgbClr val="1E3C64"/>
          </a:solidFill>
          <a:ln w="19050">
            <a:solidFill>
              <a:srgbClr val="2E75B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371600" y="1371600"/>
            <a:ext cx="9448495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600"/>
              </a:spcAft>
              <a:defRPr b="1" sz="2200">
                <a:solidFill>
                  <a:srgbClr val="FFFFFF"/>
                </a:solidFill>
              </a:defRPr>
            </a:pPr>
            <a:r>
              <a:t>KẾT LUẬN &amp; ĐÁNH GIÁ ĐỒ ÁN</a:t>
            </a:r>
          </a:p>
          <a:p>
            <a:pPr>
              <a:spcAft>
                <a:spcPts val="800"/>
              </a:spcAft>
              <a:defRPr sz="1300">
                <a:latin typeface="Arial"/>
              </a:defRPr>
            </a:pPr>
            <a:r>
              <a:rPr b="1">
                <a:solidFill>
                  <a:srgbClr val="1F4E79"/>
                </a:solidFill>
              </a:rPr>
              <a:t>• Hoàn thành 100% mục tiêu: </a:t>
            </a:r>
            <a:r>
              <a:rPr>
                <a:solidFill>
                  <a:srgbClr val="333333"/>
                </a:solidFill>
              </a:rPr>
              <a:t>Xây dựng thành công Big Data Pipeline phân tán xử lý 1.6 triệu tweet từ đầu đến cuối.</a:t>
            </a:r>
          </a:p>
          <a:p>
            <a:pPr>
              <a:spcAft>
                <a:spcPts val="800"/>
              </a:spcAft>
              <a:defRPr sz="1300">
                <a:latin typeface="Arial"/>
              </a:defRPr>
            </a:pPr>
            <a:r>
              <a:rPr b="1">
                <a:solidFill>
                  <a:srgbClr val="1F4E79"/>
                </a:solidFill>
              </a:rPr>
              <a:t>• Kết quả mô hình vượt trội: </a:t>
            </a:r>
            <a:r>
              <a:rPr>
                <a:solidFill>
                  <a:srgbClr val="333333"/>
                </a:solidFill>
              </a:rPr>
              <a:t>Logistic Regression đạt Accuracy 74.75% và Macro-F1 0.7475, suy luận cực nhanh 1.06s cho 22k mẫu.</a:t>
            </a:r>
          </a:p>
          <a:p>
            <a:pPr>
              <a:spcAft>
                <a:spcPts val="800"/>
              </a:spcAft>
              <a:defRPr sz="1300">
                <a:latin typeface="Arial"/>
              </a:defRPr>
            </a:pPr>
            <a:r>
              <a:rPr b="1">
                <a:solidFill>
                  <a:srgbClr val="1F4E79"/>
                </a:solidFill>
              </a:rPr>
              <a:t>• Chứng minh ưu thế Big Data: </a:t>
            </a:r>
            <a:r>
              <a:rPr>
                <a:solidFill>
                  <a:srgbClr val="333333"/>
                </a:solidFill>
              </a:rPr>
              <a:t>Định dạng Parquet nhanh gấp 37.8 lần CSV thô; Spark Cache tối ưu hóa truy vấn lặp lại vượt bậc.</a:t>
            </a:r>
          </a:p>
          <a:p>
            <a:pPr>
              <a:spcAft>
                <a:spcPts val="1800"/>
              </a:spcAft>
              <a:defRPr sz="1300">
                <a:latin typeface="Arial"/>
              </a:defRPr>
            </a:pPr>
            <a:r>
              <a:rPr b="1">
                <a:solidFill>
                  <a:srgbClr val="1F4E79"/>
                </a:solidFill>
              </a:rPr>
              <a:t>• Sẵn sàng ứng dụng thực tế: </a:t>
            </a:r>
            <a:r>
              <a:rPr>
                <a:solidFill>
                  <a:srgbClr val="333333"/>
                </a:solidFill>
              </a:rPr>
              <a:t>Giao diện Desktop GUI trực quan, bộ 13 Unit Tests bảo đảm an toàn hệ thống.</a:t>
            </a:r>
          </a:p>
          <a:p>
            <a:pPr algn="ctr">
              <a:defRPr b="1" sz="1500">
                <a:solidFill>
                  <a:srgbClr val="92C5DE"/>
                </a:solidFill>
              </a:defRPr>
            </a:pPr>
            <a:r>
              <a:t>XIN CHÂN THÀNH CẢM ƠN THẦY CÔ VÀ HỘI ĐỒNG ĐÃ LẮNG NGHE!</a:t>
            </a:r>
            <a:br/>
            <a:r>
              <a:t>CHÚNG EM XIN SẴN SÀNG BƯỚC VÀO PHẦN TRẢ LỜI CÂU HỎI &amp; DEMO.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