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3C64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2C5DE"/>
                </a:solidFill>
                <a:latin typeface="Arial"/>
              </a:defRPr>
            </a:pPr>
            <a:r>
              <a:t>BÁO CÁO ĐỒ ÁN HỌC PHẦN: NHẬP MÔN BIG DATA</a:t>
            </a:r>
          </a:p>
          <a:p>
            <a:pPr>
              <a:spcAft>
                <a:spcPts val="20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PHÂN TÍCH HÀNH VI ĐĂNG BÀI VÀ CẢM XÚC</a:t>
            </a:r>
            <a:br/>
            <a:r>
              <a:t>CỦA NGƯỜI DÙNG TRÊN TWITTER BẰNG APACHE SPARK</a:t>
            </a:r>
          </a:p>
          <a:p>
            <a:pPr>
              <a:defRPr sz="1300">
                <a:solidFill>
                  <a:srgbClr val="E0E0E0"/>
                </a:solidFill>
                <a:latin typeface="Arial"/>
              </a:defRPr>
            </a:pPr>
            <a:r>
              <a:t>Nhóm thực hiện: Nhóm 09</a:t>
            </a:r>
            <a:br/>
            <a:r>
              <a:t>• Sinh viên 1: Võ Minh Cảnh  —  MSSV: 2001230065 (Trưởng nhóm)</a:t>
            </a:r>
            <a:br/>
            <a:r>
              <a:t>• Sinh viên 2: Hồ Thị Thanh Nhã  —  MSSV: 2001230592 (Thành viên)</a:t>
            </a:r>
            <a:br/>
            <a:r>
              <a:t>Dữ liệu nghiên cứu: Sentiment140 Dataset (1.6 triệu tweet)  |  Môi trường: Apache Spark, HDFS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1. Bối cảnh và Tính cấp thiết của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F4E79"/>
                </a:solidFill>
              </a:defRPr>
            </a:pPr>
            <a:r>
              <a:t>TẦM QUAN TRỌNG CỦA DỮ LIỆU TWITTER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Nguồn ý kiến công chúng khổng lồ: </a:t>
            </a:r>
            <a:r>
              <a:rPr>
                <a:solidFill>
                  <a:srgbClr val="333333"/>
                </a:solidFill>
              </a:rPr>
              <a:t>Mỗi ngày có hàng trăm triệu dòng tweet phản ánh ý kiến, thị hiếu và cảm xúc về sản phẩm, dịch vụ và sự kiện.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Ứng dụng doanh nghiệp: </a:t>
            </a:r>
            <a:r>
              <a:rPr>
                <a:solidFill>
                  <a:srgbClr val="333333"/>
                </a:solidFill>
              </a:rPr>
              <a:t>Hỗ trợ chăm sóc khách hàng, quản trị thương hiệu, phát hiện khủng hoảng truyền thông và nghiên cứu thị trường.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Tính tức thời: </a:t>
            </a:r>
            <a:r>
              <a:rPr>
                <a:solidFill>
                  <a:srgbClr val="333333"/>
                </a:solidFill>
              </a:rPr>
              <a:t>Dữ liệu được tạo ra liên tục đòi hỏi các giải pháp xử lý quy mô lớn và tốc độ cao.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F4E79"/>
                </a:solidFill>
              </a:defRPr>
            </a:pPr>
            <a:r>
              <a:t>GIẢI PHÁP CÔNG NGHỆ: APACHE SPARK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Khắc phục giới hạn đơn máy: </a:t>
            </a:r>
            <a:r>
              <a:rPr>
                <a:solidFill>
                  <a:srgbClr val="333333"/>
                </a:solidFill>
              </a:rPr>
              <a:t>Các công cụ truyền thống (Pandas, Excel, Scikit-learn) quá tải bộ nhớ RAM khi mở tệp hàng triệu bản ghi.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Xử lý In-Memory: </a:t>
            </a:r>
            <a:r>
              <a:rPr>
                <a:solidFill>
                  <a:srgbClr val="333333"/>
                </a:solidFill>
              </a:rPr>
              <a:t>Apache Spark tính toán trực tiếp trên bộ nhớ đệm, nhanh hơn Hadoop MapReduce từ 10 đến 100 lần.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Hệ sinh thái toàn diện: </a:t>
            </a:r>
            <a:r>
              <a:rPr>
                <a:solidFill>
                  <a:srgbClr val="333333"/>
                </a:solidFill>
              </a:rPr>
              <a:t>Tích hợp sẵn Spark SQL (truy vấn quan hệ) và Spark MLlib (học máy phân tán) trong một nền tảng duy nhất.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2. Thách thức Big Data trong Đề tài (The 3V Challenges)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3/28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VOLUME (Khối lượng lớn)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1,600,000 Tweets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 dòng: </a:t>
            </a:r>
            <a:r>
              <a:rPr>
                <a:solidFill>
                  <a:srgbClr val="333333"/>
                </a:solidFill>
              </a:rPr>
              <a:t>1.6 triệu bản ghi văn bản lịch sử.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Bộ nhớ RAM: </a:t>
            </a:r>
            <a:r>
              <a:rPr>
                <a:solidFill>
                  <a:srgbClr val="333333"/>
                </a:solidFill>
              </a:rPr>
              <a:t>Vượt ngưỡng xử lý an toàn của Pandas trên máy tính cá nhân.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Độ phức tạp I/O: </a:t>
            </a:r>
            <a:r>
              <a:rPr>
                <a:solidFill>
                  <a:srgbClr val="333333"/>
                </a:solidFill>
              </a:rPr>
              <a:t>Đọc/ghi CSV thô tốn nhiều băng thông ổ đĩa nếu không tối ưu hóa.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VARIETY (Độ biến thiên &amp; Nhiễu)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Dữ liệu văn bản phi cấu trúc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Nhiễu văn bản: </a:t>
            </a:r>
            <a:r>
              <a:rPr>
                <a:solidFill>
                  <a:srgbClr val="333333"/>
                </a:solidFill>
              </a:rPr>
              <a:t>Chứa nhiều liên kết URL, thẻ @mention, biểu tượng cảm xúc, ký tự HTML lỗi.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Định dạng ngày giờ: </a:t>
            </a:r>
            <a:r>
              <a:rPr>
                <a:solidFill>
                  <a:srgbClr val="333333"/>
                </a:solidFill>
              </a:rPr>
              <a:t>Chuỗi ngày Twitter chứa múi giờ PDT/EST cần chuẩn hóa về UTC.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Trùng lặp &amp; mâu thuẫn: </a:t>
            </a:r>
            <a:r>
              <a:rPr>
                <a:solidFill>
                  <a:srgbClr val="333333"/>
                </a:solidFill>
              </a:rPr>
              <a:t>Xuất hiện tweet trùng ID và các câu trùng nội dung nhưng khác nhãn.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VELOCITY (Tốc độ &amp; Hiệu năng)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Xử lý &amp; Suy luận phân tán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Huấn luyện phân tán: </a:t>
            </a:r>
            <a:r>
              <a:rPr>
                <a:solidFill>
                  <a:srgbClr val="333333"/>
                </a:solidFill>
              </a:rPr>
              <a:t>Trích xuất 32,768 đặc trưng TF-IDF song song trên toàn bộ tập dữ liệu.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Tối ưu hóa Caching: </a:t>
            </a:r>
            <a:r>
              <a:rPr>
                <a:solidFill>
                  <a:srgbClr val="333333"/>
                </a:solidFill>
              </a:rPr>
              <a:t>Cần cơ chế Spark Cache để tăng tốc các phép toán lặp lại.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Tốc độ truy vấn: </a:t>
            </a:r>
            <a:r>
              <a:rPr>
                <a:solidFill>
                  <a:srgbClr val="333333"/>
                </a:solidFill>
              </a:rPr>
              <a:t>Yêu cầu định dạng lưu trữ cột (Parquet) để truy vấn tức thì.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3. Mục tiêu và Phạm vi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4/28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1: Xây dựng Big Data Pipeline khép kín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Thiết kế luồng Batch Ingestion -&gt; HDFS / Parquet -&gt; Spark Engine -&gt; Serving (SQL, ML, GUI) hoàn chỉnh, chạy ổn định từ đầu đến cuối.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2: Phân tích hành vi người dùng (EDA với Spark SQL)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Khám phá chu kỳ đăng bài theo ngày, mật độ theo 24 giờ UTC, phân bố người dùng tích cực và trích xuất từ khóa phân hóa cảm xúc.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3: Huấn luyện mô hình phân loại cảm xúc (Spark MLlib)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Xây dựng pipeline TF-IDF + Logistic Regression (có tuning siêu tham số), đối chứng với Naive Bayes và Majority Class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4: Thực nghiệm đo lường hiệu năng hạ tầng Big Data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Đo đạc thực tế lợi ích của Spark Cache (so sánh 3 mức dữ liệu) và chứng minh ưu thế vượt trội của định dạng Parquet so với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5: Xây dựng Desktop GUI &amp; Đảm bảo kiểm thử chất lượng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Phát triển giao diện tương tác chọn nguồn Local/HDFS, demo suy luận tweet trực tiếp và thiết lập bộ 13 Unit Tests hồi quy tự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4. Kiến trúc Tổng thể Hệ thống (Big Data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5/28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1. SOURCES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Tệp CSV Sentiment140</a:t>
            </a:r>
            <a:br/>
            <a:r>
              <a:t>• 1.6 triệu bài đăng</a:t>
            </a:r>
            <a:br/>
            <a:r>
              <a:t>• 238 MB dữ liệu thô</a:t>
            </a:r>
            <a:br/>
            <a:r>
              <a:t>• Mã hóa ISO-8859-1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2. INGESTION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Batch Ingestion</a:t>
            </a:r>
            <a:br/>
            <a:r>
              <a:t>• Script PowerShell nạp tệp</a:t>
            </a:r>
            <a:br/>
            <a:r>
              <a:t>• Spark DataFrame Reader</a:t>
            </a:r>
            <a:br/>
            <a:r>
              <a:t>• Áp đặt Schema cố định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3. STORAGE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HDFS &amp; Parquet</a:t>
            </a:r>
            <a:br/>
            <a:r>
              <a:t>• Cụm Hadoop 3.3.6 Docker</a:t>
            </a:r>
            <a:br/>
            <a:r>
              <a:t>• NameNode &amp; DataNode</a:t>
            </a:r>
            <a:br/>
            <a:r>
              <a:t>• Parquet nén Snappy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39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4. PROCESSING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Spark Engine</a:t>
            </a:r>
            <a:br/>
            <a:r>
              <a:t>• Làm sạch văn bản (Regex)</a:t>
            </a:r>
            <a:br/>
            <a:r>
              <a:t>• Lọc trùng &amp; chuẩn hóa UTC</a:t>
            </a:r>
            <a:br/>
            <a:r>
              <a:t>• MLlib TF-IDF &amp;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5. SERVING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Đầu ra Ứng dụng</a:t>
            </a:r>
            <a:br/>
            <a:r>
              <a:t>• Bảng Spark SQL</a:t>
            </a:r>
            <a:br/>
            <a:r>
              <a:t>• 6 biểu đồ trực quan BI</a:t>
            </a:r>
            <a:br/>
            <a:r>
              <a:t>• Mô hình ML &amp; Desktop GUI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52160"/>
            <a:ext cx="1072865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LƯU Ý THỰC NGHIỆM: Đồ án triển khai chuẩn theo luồng BATCH PATH (Files -&gt; HDFS -&gt; Spark Batch -&gt; BI/ML/GUI).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5. Tổng quan Bộ dữ liệu Sentiment140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6/28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THÔNG TIN TỔNG QUÁT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Đơn vị phát triển: </a:t>
            </a:r>
            <a:r>
              <a:rPr>
                <a:solidFill>
                  <a:srgbClr val="333333"/>
                </a:solidFill>
              </a:rPr>
              <a:t>Nhóm nghiên cứu thuộc Đại học Stanford (Go, Bhayani &amp; Huang).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chế gán nhãn: </a:t>
            </a:r>
            <a:r>
              <a:rPr>
                <a:solidFill>
                  <a:srgbClr val="333333"/>
                </a:solidFill>
              </a:rPr>
              <a:t>Gán nhãn tự động dựa trên biểu tượng cảm xúc (Emoticons) trong bài đăng (ví dụ :) và :().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mô: </a:t>
            </a:r>
            <a:r>
              <a:rPr>
                <a:solidFill>
                  <a:srgbClr val="333333"/>
                </a:solidFill>
              </a:rPr>
              <a:t>1,600,000 dòng dữ liệu văn bản tweet tiếng Anh.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Mã hóa ký tự: </a:t>
            </a:r>
            <a:r>
              <a:rPr>
                <a:solidFill>
                  <a:srgbClr val="333333"/>
                </a:solidFill>
              </a:rPr>
              <a:t>ISO-8859-1 (cần xử lý chuẩn hóa sang UTF-8).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Cân bằng nhãn gốc: </a:t>
            </a:r>
            <a:r>
              <a:rPr>
                <a:solidFill>
                  <a:srgbClr val="333333"/>
                </a:solidFill>
              </a:rPr>
              <a:t>800,000 mẫu tiêu cực (nhãn 0) và 800,000 mẫu tích cực (nhãn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Ý NGHĨA KHOA HỌC &amp; GIỚI HẠN DỮ LIỆU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Ưu điểm: </a:t>
            </a:r>
            <a:r>
              <a:rPr>
                <a:solidFill>
                  <a:srgbClr val="333333"/>
                </a:solidFill>
              </a:rPr>
              <a:t>Quy mô dữ liệu chuẩn quốc tế cho bài toán phân tích cảm xúc Big Data; số lượng bài mẫu phong phú.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Đặc thù lịch sử: </a:t>
            </a:r>
            <a:r>
              <a:rPr>
                <a:solidFill>
                  <a:srgbClr val="333333"/>
                </a:solidFill>
              </a:rPr>
              <a:t>Thu thập năm 2009, phản ánh các chủ đề mạng xã hội thời kỳ đầu.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Giới hạn quan trọng: </a:t>
            </a:r>
            <a:r>
              <a:rPr>
                <a:solidFill>
                  <a:srgbClr val="333333"/>
                </a:solidFill>
              </a:rPr>
              <a:t>Bộ dữ liệu dùng nhãn vi mô dựa trên emoticon; kết quả mô hình phản ánh cấu trúc tập mẫu huấn luyện chứ không đại diện cho dư luận công chúng toàn cầu ở hiện tại.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6. Cấu trúc 6 Trường Dữ liệu Thô (Raw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7/28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 trường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Kiểu dữ liệu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Ý nghĩa nghiệp vụ &amp; Dữ liệu mẫu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Integer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Nhãn cảm xúc gốc: 0 = Tiêu cực, 4 = Tích cực.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Mã định danh duy nhất của bài đăng (Tweet ID, ví dụ: 1467810369).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Thời gian đăng bài của Twitter (Ví dụ: Mon Apr 06 22:19:45 PDT 2009).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Cờ truy vấn dữ liệu từ API (Trong tập này luôn là NO_QUERY).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user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Tên người dùng đăng tweet (Ví dụ: _TheSpecialOne_).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Nội dung văn bản tweet gốc chứa ký tự đặc biệt, link, mention, HTML entity.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7. Quy trình Tiền xử lý &amp; Làm sạch Văn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8/28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1. Khử trùng lặp ID bài đăng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Phát hiện và loại bỏ các dòng có Tweet ID trùng lặp (1,685 dòng trùng), đảm bảo tính toàn vẹn khóa chính.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2. Chuẩn hóa nhãn nhị phân (Binary Mapping)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Chuyển nhãn 4 (Positive) thành 1, giữ nguyên nhãn 0 (Negative). Giúp thuận tiện cho hàm mất mát nhị phân trong Spark MLlib.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3. Giải mã thực thể HTML lỗi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Chuyển đổi các ký tự mã hóa URL/HTML như &amp;amp; -&gt; &amp;, &amp;lt; -&gt; &lt;, &amp;gt; -&gt; &gt; để khôi phục cấu trúc văn bản gốc.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4. Loại bỏ siêu liên kết (URLs)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Sử dụng biểu thức chính quy (Regex) quét và loại bỏ http://..., https://... vì không mang ý nghĩa cảm xúc.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5. Loại bỏ thẻ người dùng (@user)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Xóa các thẻ @username để mô hình tập trung vào nội dung biểu đạt thay vì phụ thuộc vào tên tài khoản người khác.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6. Chuẩn hóa thời gian sang UTC Timestamp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Phân tích cú pháp ngày giờ định dạng Twitter và chuyển đổi chuẩn về múi giờ UTC để phân tích thời gian thống nhất.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8. Kết quả Kiểm soát Chất lượng (Data 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9/28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1,600,000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Tổng số dòng đầu vào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Toàn bộ dữ liệu thô đọc từ Sentiment140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1,595,145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Dòng hợp lệ sau làm sạch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Tỷ lệ giữ lại đạt mức ấn tượng 99.70%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4,855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Số dòng bị loại bỏ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Bao gồm 1,685 dòng trùng ID và dòng lỗi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100%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Tỷ lệ chuẩn hóa thời gian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Chuyển đổi thành công 100% ngày giờ sang UTC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F4E79"/>
                </a:solidFill>
              </a:defRPr>
            </a:pPr>
            <a:r>
              <a:t>PHÂN BỐ NHÃN DỮ LIỆU SAU KHI LÀM SẠCH: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Nhãn Tiêu cực (0): </a:t>
            </a:r>
            <a:r>
              <a:rPr>
                <a:solidFill>
                  <a:srgbClr val="333333"/>
                </a:solidFill>
              </a:rPr>
              <a:t>798,387 dòng, chiếm 50.05% tổng số dòng hợp lệ.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Nhãn Tích cực (1): </a:t>
            </a:r>
            <a:r>
              <a:rPr>
                <a:solidFill>
                  <a:srgbClr val="333333"/>
                </a:solidFill>
              </a:rPr>
              <a:t>796,758 dòng, chiếm 49.95% tổng số dòng hợp lệ.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luận cân bằng: </a:t>
            </a:r>
            <a:r>
              <a:rPr>
                <a:solidFill>
                  <a:srgbClr val="333333"/>
                </a:solidFill>
              </a:rPr>
              <a:t>Độ chênh lệch giữa hai lớp chỉ 0.1%, là điều kiện lý tưởng cho các thuật toán phân loại mà không cần kỹ thuật Oversampling hay Undersampling.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9. Tầng Lưu trữ Phân tán: Hadoop HDFS trên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10/28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KIẾN TRÚC CỤM HDFS MULTI-CONTAINER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Image chuẩn: </a:t>
            </a:r>
            <a:r>
              <a:rPr>
                <a:solidFill>
                  <a:srgbClr val="333333"/>
                </a:solidFill>
              </a:rPr>
              <a:t>apache/hadoop:3.3.6 (Nền tảng Linux container).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NameNode (Master): </a:t>
            </a:r>
            <a:r>
              <a:rPr>
                <a:solidFill>
                  <a:srgbClr val="333333"/>
                </a:solidFill>
              </a:rPr>
              <a:t>Quản lý metadata, namespace; mở cổng 8020 (RPC cho Spark) và 9870 (Web UI theo dõi tình trạng cluster).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DataNode (Worker): </a:t>
            </a:r>
            <a:r>
              <a:rPr>
                <a:solidFill>
                  <a:srgbClr val="333333"/>
                </a:solidFill>
              </a:rPr>
              <a:t>Lưu trữ các khối block dữ liệu phân tán; mở cổng 9864 và 9866.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Volume Persistent: </a:t>
            </a:r>
            <a:r>
              <a:rPr>
                <a:solidFill>
                  <a:srgbClr val="333333"/>
                </a:solidFill>
              </a:rPr>
              <a:t>Gắn kết namenode_data và datanode_data đảm bảo dữ liệu không bị mất khi khởi động lại container.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TỰ ĐỘNG HÓA VẬN HÀNH &amp; KẾT NỐI SPARK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Scripts tự động hóa: </a:t>
            </a:r>
            <a:r>
              <a:rPr>
                <a:solidFill>
                  <a:srgbClr val="333333"/>
                </a:solidFill>
              </a:rPr>
              <a:t>Bộ script PowerShell quản lý vòng đời cụm: hdfs_start.ps1, hdfs_upload.ps1, hdfs_status.ps1, hdfs_stop.ps1.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Khắc phục lỗi Windows: </a:t>
            </a:r>
            <a:r>
              <a:rPr>
                <a:solidFill>
                  <a:srgbClr val="333333"/>
                </a:solidFill>
              </a:rPr>
              <a:t>Loại bỏ hoàn toàn lỗi winutils.exe và thiếu thư viện native C++ thường gặp trên Windows bằng cách đóng gói trong Docker.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Đường dẫn URI kết nối: </a:t>
            </a:r>
            <a:r>
              <a:rPr>
                <a:solidFill>
                  <a:srgbClr val="333333"/>
                </a:solidFill>
              </a:rPr>
              <a:t>Dữ liệu được nạp vào đường dẫn HDFS chuẩn: hdfs://localhost:8020/twitter/raw/sentiment140.csv.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10. So sánh Lưu trữ: CSV vs Apache Parquet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11/28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Định dạng tệp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Thời gian đọc Spark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Tỷ lệ tăng tốc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Độ nén &amp; Tối ưu I/O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Raw CSV (ISO-8859-1)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11.461 giây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1.0x (Chuẩn đối chứng)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0% (Dữ liệu dạng dòng thuần túy)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Cleaned Parquet (Snappy)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0.303 giây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37.80x (Nhanh hơn)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Tối ưu nén dạng cột Snappy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F4E79"/>
                </a:solidFill>
              </a:defRPr>
            </a:pPr>
            <a:r>
              <a:t>NGUYÊN NHÂN PARQUET ĐẠT HIỆU NĂNG VƯỢT TRỘI: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Lưu trữ định dạng cột (Columnar Storage): </a:t>
            </a:r>
            <a:r>
              <a:rPr>
                <a:solidFill>
                  <a:srgbClr val="333333"/>
                </a:solidFill>
              </a:rPr>
              <a:t>Spark chỉ cần đọc đúng các cột được truy vấn (projection pushdown), bỏ qua các cột không cần thiết thay vì phải scan toàn bộ dòng như CSV.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Nén khối thông minh (Snappy Compression): </a:t>
            </a:r>
            <a:r>
              <a:rPr>
                <a:solidFill>
                  <a:srgbClr val="333333"/>
                </a:solidFill>
              </a:rPr>
              <a:t>Các giá trị cùng kiểu dữ liệu đứng cạnh nhau giúp thuật toán nén đạt hiệu suất cao, giảm kích thước đĩa và giảm lượng dữ liệu truyền qua mạng.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Metadata tích hợp sẵn: </a:t>
            </a:r>
            <a:r>
              <a:rPr>
                <a:solidFill>
                  <a:srgbClr val="333333"/>
                </a:solidFill>
              </a:rPr>
              <a:t>Parquet lưu sẵn schema và số liệu thống kê (min, max per chunk), giúp bộ tối ưu Catalyst áp dụng Predicate Pushdown hiệu quả.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11. Phân tích Khám phá Dữ liệu với Spark SQL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12/28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RQ1: HÀNH VI THEO THỜI GIAN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Khảo sát tần suất đăng bài theo chu kỳ ngày và theo 24 khung giờ UTC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Phân tích ngày: </a:t>
            </a:r>
            <a:r>
              <a:rPr>
                <a:solidFill>
                  <a:srgbClr val="333333"/>
                </a:solidFill>
              </a:rPr>
              <a:t>Xác định các ngày có lượng bài đăng đột biến và ngày có lưu lượng thấp nhất.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Phân tích giờ: </a:t>
            </a:r>
            <a:r>
              <a:rPr>
                <a:solidFill>
                  <a:srgbClr val="333333"/>
                </a:solidFill>
              </a:rPr>
              <a:t>Khảo sát mật độ hoạt động của người dùng toàn cầu theo từng khung giờ trong ngày.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Tương quan nhãn: </a:t>
            </a:r>
            <a:r>
              <a:rPr>
                <a:solidFill>
                  <a:srgbClr val="333333"/>
                </a:solidFill>
              </a:rPr>
              <a:t>So sánh tỷ lệ cảm xúc tích cực và tiêu cực biến động qua các mốc thời gian.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RQ2: HÀNH VI NGƯỜI DÙNG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Khảo sát mức độ tích cực của các tài khoản Twitter trong tập mẫu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Tài khoản duy nhất: </a:t>
            </a:r>
            <a:r>
              <a:rPr>
                <a:solidFill>
                  <a:srgbClr val="333333"/>
                </a:solidFill>
              </a:rPr>
              <a:t>Ghi nhận 659,775 tài khoản khác nhau trong tập dữ liệu nghiên cứu.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Hiện tượng đuôi dài: </a:t>
            </a:r>
            <a:r>
              <a:rPr>
                <a:solidFill>
                  <a:srgbClr val="333333"/>
                </a:solidFill>
              </a:rPr>
              <a:t>Hầu hết người dùng chỉ đăng 1-2 bài tweet (Long-tail user distribution).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Người dùng tích cực: </a:t>
            </a:r>
            <a:r>
              <a:rPr>
                <a:solidFill>
                  <a:srgbClr val="333333"/>
                </a:solidFill>
              </a:rPr>
              <a:t>Nhóm người dùng đăng nhiều bài có xu hướng phân bổ cảm xúc ra sao?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RQ3: KHÁM PHÁ TỪ VỰNG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Trích xuất các từ khóa đặc trưng phân hóa cảm xúc mạnh mẽ nhất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Tách từ phân tán: </a:t>
            </a:r>
            <a:r>
              <a:rPr>
                <a:solidFill>
                  <a:srgbClr val="333333"/>
                </a:solidFill>
              </a:rPr>
              <a:t>Sử dụng Spark SQL explode(split(clean_text, ' ')) đếm tần suất từ song song.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Từ vựng tích cực: </a:t>
            </a:r>
            <a:r>
              <a:rPr>
                <a:solidFill>
                  <a:srgbClr val="333333"/>
                </a:solidFill>
              </a:rPr>
              <a:t>Các từ mang sắc thái lạc quan, cảm ơn, khen ngợi (love, good, thank, great).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Từ vựng tiêu cực: </a:t>
            </a:r>
            <a:r>
              <a:rPr>
                <a:solidFill>
                  <a:srgbClr val="333333"/>
                </a:solidFill>
              </a:rPr>
              <a:t>Các từ mang sắc thái than phiền, bức xúc, phủ định (not, no, miss, sad, bad).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12. RQ1 - Biến động Khối lượng Tweet theo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13/28</a:t>
            </a:r>
          </a:p>
        </p:txBody>
      </p:sp>
      <p:pic>
        <p:nvPicPr>
          <p:cNvPr id="5" name="Picture 4" descr="posts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7434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NHẬN XÉT THỰC NGHIỆM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Thời gian khảo sát: </a:t>
            </a:r>
            <a:r>
              <a:rPr>
                <a:solidFill>
                  <a:srgbClr val="333333"/>
                </a:solidFill>
              </a:rPr>
              <a:t>Kéo dài từ ngày 07/04/2009 đến 25/06/2009 (hơn 2.5 tháng).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Ngày cao điểm nhất: </a:t>
            </a:r>
            <a:r>
              <a:rPr>
                <a:solidFill>
                  <a:srgbClr val="333333"/>
                </a:solidFill>
              </a:rPr>
              <a:t>Ngày 07/06/2009 ghi nhận lượng tweet tăng vọt (hơn 100,000 bài), phản ánh các sự kiện chính trị / thể thao lớn diễn ra.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 kỳ tuần hoàn: </a:t>
            </a:r>
            <a:r>
              <a:rPr>
                <a:solidFill>
                  <a:srgbClr val="333333"/>
                </a:solidFill>
              </a:rPr>
              <a:t>Lưu lượng bài đăng có xu hướng tăng vào các ngày cuối tuần và các ngày diễn ra sự kiện nóng.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13. RQ1 - Tỷ lệ Cảm xúc Tích cực / Tiêu cực theo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14/28</a:t>
            </a:r>
          </a:p>
        </p:txBody>
      </p:sp>
      <p:pic>
        <p:nvPicPr>
          <p:cNvPr id="5" name="Picture 4" descr="label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7434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TỶ LỆ PHÂN BỐ CẢM XÚC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Tính cân bằng bền vững: </a:t>
            </a:r>
            <a:r>
              <a:rPr>
                <a:solidFill>
                  <a:srgbClr val="333333"/>
                </a:solidFill>
              </a:rPr>
              <a:t>Tỷ lệ tích cực (49.95%) và tiêu cực (50.05%) duy trì cân bằng xuyên suốt 2.5 tháng khảo sát.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Biến động theo sự kiện: </a:t>
            </a:r>
            <a:r>
              <a:rPr>
                <a:solidFill>
                  <a:srgbClr val="333333"/>
                </a:solidFill>
              </a:rPr>
              <a:t>Vào một số ngày cao điểm (đặc biệt đầu tháng 6/2009), tỷ lệ tweet tiêu cực có biến động nhẹ phản ánh các luồng dư luận đa chiều.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Ý nghĩa huấn luyện mô hình: </a:t>
            </a:r>
            <a:r>
              <a:rPr>
                <a:solidFill>
                  <a:srgbClr val="333333"/>
                </a:solidFill>
              </a:rPr>
              <a:t>Sự cân bằng tự nhiên giúp mô hình không cần dùng kỹ thuật cân bằng dữ liệu nhân tạo, giảm thiểu bias.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14. RQ1 - Mật độ Bài đăng theo 24 Khung giờ UTC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15/28</a:t>
            </a:r>
          </a:p>
        </p:txBody>
      </p:sp>
      <p:pic>
        <p:nvPicPr>
          <p:cNvPr id="5" name="Picture 4" descr="posts_by_hour_u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433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NHẬN XÉT THỰC NGHIỆM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Giờ cao điểm: </a:t>
            </a:r>
            <a:r>
              <a:rPr>
                <a:solidFill>
                  <a:srgbClr val="333333"/>
                </a:solidFill>
              </a:rPr>
              <a:t>Khung giờ 12:00 - 15:00 UTC ghi nhận mật độ tweet cao nhất (trên 80,000 tweet/giờ).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Ý nghĩa địa lý: </a:t>
            </a:r>
            <a:r>
              <a:rPr>
                <a:solidFill>
                  <a:srgbClr val="333333"/>
                </a:solidFill>
              </a:rPr>
              <a:t>Tương ứng với buổi sáng tại khu vực Bắc Mỹ và buổi chiều tối tại châu Âu, thời điểm người dùng bắt đầu các hoạt động trực tuyến tích cực.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Giờ trầm lắng: </a:t>
            </a:r>
            <a:r>
              <a:rPr>
                <a:solidFill>
                  <a:srgbClr val="333333"/>
                </a:solidFill>
              </a:rPr>
              <a:t>Khung giờ 03:00 - 05:00 UTC có lưu lượng thấp nhất, tương ứng với nửa đêm tại bờ Tây và bờ Đông nước Mỹ.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15. RQ2 - Phân tích Mức độ Hoạt động của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16/28</a:t>
            </a:r>
          </a:p>
        </p:txBody>
      </p:sp>
      <p:pic>
        <p:nvPicPr>
          <p:cNvPr id="5" name="Picture 4" descr="posts_p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433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HIỆN TƯỢNG ĐUÔI DÀI (LONG-TAIL)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 tài khoản: </a:t>
            </a:r>
            <a:r>
              <a:rPr>
                <a:solidFill>
                  <a:srgbClr val="333333"/>
                </a:solidFill>
              </a:rPr>
              <a:t>659,775 tài khoản khác nhau trong tập mẫu.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Đại đa số người dùng: </a:t>
            </a:r>
            <a:r>
              <a:rPr>
                <a:solidFill>
                  <a:srgbClr val="333333"/>
                </a:solidFill>
              </a:rPr>
              <a:t>Hơn 70% tài khoản chỉ xuất hiện đúng 1 lần trong tập dữ liệu.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Tài khoản tích cực: </a:t>
            </a:r>
            <a:r>
              <a:rPr>
                <a:solidFill>
                  <a:srgbClr val="333333"/>
                </a:solidFill>
              </a:rPr>
              <a:t>Chỉ một tỷ lệ rất nhỏ tài khoản có trên 10 bài đăng.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Ý nghĩa học máy: </a:t>
            </a:r>
            <a:r>
              <a:rPr>
                <a:solidFill>
                  <a:srgbClr val="333333"/>
                </a:solidFill>
              </a:rPr>
              <a:t>Không thể dùng ID người dùng làm đặc trưng phân loại vì sẽ gây Overfitting nghiêm trọng; mô hình chỉ được phép học từ nội dung văn bản (clean_text).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16. RQ3 - Top Từ vựng Phân hóa Cảm xúc Mạnh mẽ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17/28</a:t>
            </a:r>
          </a:p>
        </p:txBody>
      </p:sp>
      <p:pic>
        <p:nvPicPr>
          <p:cNvPr id="5" name="Picture 4" descr="top_word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811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ĐẶC TRƯNG TỪ VỰNG PHÂN HÓA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Nhóm Tích cực (Positive): </a:t>
            </a:r>
            <a:r>
              <a:rPr>
                <a:solidFill>
                  <a:srgbClr val="333333"/>
                </a:solidFill>
              </a:rPr>
              <a:t>Chi phối bởi các từ: 'good', 'love', 'day', 'thanks', 'happy', 'great'. Thể hiện sự hài lòng, niềm vui và sự ủng hộ.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Nhóm Tiêu cực (Negative): </a:t>
            </a:r>
            <a:r>
              <a:rPr>
                <a:solidFill>
                  <a:srgbClr val="333333"/>
                </a:solidFill>
              </a:rPr>
              <a:t>Chi phối bởi các từ phủ định và than phiền: 'not', 'no', 'work', 'miss', 'sad', 'hate'.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sở cho TF-IDF: </a:t>
            </a:r>
            <a:r>
              <a:rPr>
                <a:solidFill>
                  <a:srgbClr val="333333"/>
                </a:solidFill>
              </a:rPr>
              <a:t>Sự phân hóa rõ rệt của các từ khóa này là tiền đề vững chắc để bộ trích xuất TF-IDF gán trọng số và giúp mô hình phân loại chính xác.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17. Pipeline Trích xuất Đặc trưng NLP (Spark MLlib)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18/28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1: RegexTokenizer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Phân tách văn bản thành danh sách từ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Biểu thức Regex: </a:t>
            </a:r>
            <a:r>
              <a:rPr>
                <a:solidFill>
                  <a:srgbClr val="333333"/>
                </a:solidFill>
              </a:rPr>
              <a:t>pattern='\w+' tách theo từ ngữ hợp lệ.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Chuyển chữ thường: </a:t>
            </a:r>
            <a:r>
              <a:rPr>
                <a:solidFill>
                  <a:srgbClr val="333333"/>
                </a:solidFill>
              </a:rPr>
              <a:t>Đồng nhất toàn bộ ký tự về chữ thường.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Loại bỏ khoảng trắng: </a:t>
            </a:r>
            <a:r>
              <a:rPr>
                <a:solidFill>
                  <a:srgbClr val="333333"/>
                </a:solidFill>
              </a:rPr>
              <a:t>Tự động khử các ký tự khoảng trắng dư thừa.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2: HashingTF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Biến đổi chuỗi từ thành vector tần suất (TF)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Không gian đặc trưng: </a:t>
            </a:r>
            <a:r>
              <a:rPr>
                <a:solidFill>
                  <a:srgbClr val="333333"/>
                </a:solidFill>
              </a:rPr>
              <a:t>numFeatures = 32,768 chiều vector.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Hashing Trick: </a:t>
            </a:r>
            <a:r>
              <a:rPr>
                <a:solidFill>
                  <a:srgbClr val="333333"/>
                </a:solidFill>
              </a:rPr>
              <a:t>Dùng hàm băm MurmurHash ánh xạ trực tiếp từ ngữ vào index vector.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Tiết kiệm RAM: </a:t>
            </a:r>
            <a:r>
              <a:rPr>
                <a:solidFill>
                  <a:srgbClr val="333333"/>
                </a:solidFill>
              </a:rPr>
              <a:t>Không cần duy trì từ điển từ vựng (Vocabulary) khổng lồ trên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3: IDF Estimator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Tính trọng số nghịch đảo tài liệu (Inverse Doc Freq)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Công thức IDF: </a:t>
            </a:r>
            <a:r>
              <a:rPr>
                <a:solidFill>
                  <a:srgbClr val="333333"/>
                </a:solidFill>
              </a:rPr>
              <a:t>Giảm trọng số các từ xuất hiện phổ biến ở mọi tài liệu.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Tăng trọng số: </a:t>
            </a:r>
            <a:r>
              <a:rPr>
                <a:solidFill>
                  <a:srgbClr val="333333"/>
                </a:solidFill>
              </a:rPr>
              <a:t>Khuếch đại các từ khóa đặc trưng có tính phân loại cao.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Đầu ra Pipeline: </a:t>
            </a:r>
            <a:r>
              <a:rPr>
                <a:solidFill>
                  <a:srgbClr val="333333"/>
                </a:solidFill>
              </a:rPr>
              <a:t>Tạo cột 'features' vector sẵn sàng cho thuật toán phân loại.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18. Chiến lược Phân chia Dữ liệu &amp; Chống Rò rỉ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19/28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NGUY CƠ RÒ RỈ DỮ LIỆU (DATA LEAKAGE)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Hiện tượng mâu thuẫn nhãn: </a:t>
            </a:r>
            <a:r>
              <a:rPr>
                <a:solidFill>
                  <a:srgbClr val="333333"/>
                </a:solidFill>
              </a:rPr>
              <a:t>Trong 1.6M tweet, có 2,361 nhóm câu có nội dung giống hệt nhau nhưng bị gán nhãn trái ngược nhau (29,280 dòng).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Hậu quả nếu chia ngẫu nhiên: </a:t>
            </a:r>
            <a:r>
              <a:rPr>
                <a:solidFill>
                  <a:srgbClr val="333333"/>
                </a:solidFill>
              </a:rPr>
              <a:t>Cùng một câu văn sẽ đồng thời rơi vào cả tập Train và tập Test, khiến mô hình 'học vẹt' và thổi phồng độ chính xác ảo.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Giải pháp triệt để: </a:t>
            </a:r>
            <a:r>
              <a:rPr>
                <a:solidFill>
                  <a:srgbClr val="333333"/>
                </a:solidFill>
              </a:rPr>
              <a:t>Nhóm lọc bỏ hoàn toàn các nhóm bài viết mâu thuẫn nhãn trước khi tiến hành phân chia tập dữ liệu.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CƠ CHẾ PHÂN CHIA XÁC ĐỊNH BẰNG HÀM BĂM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tắc phân chia: </a:t>
            </a:r>
            <a:r>
              <a:rPr>
                <a:solidFill>
                  <a:srgbClr val="333333"/>
                </a:solidFill>
              </a:rPr>
              <a:t>Sử dụng hàm băm phân tán: pmod(xxhash64(clean_text), 1000).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Train (70%): </a:t>
            </a:r>
            <a:r>
              <a:rPr>
                <a:solidFill>
                  <a:srgbClr val="333333"/>
                </a:solidFill>
              </a:rPr>
              <a:t>Các mẫu có hash &lt; 700 (106,209 dòng trên mẫu 10%).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Validation (15%): </a:t>
            </a:r>
            <a:r>
              <a:rPr>
                <a:solidFill>
                  <a:srgbClr val="333333"/>
                </a:solidFill>
              </a:rPr>
              <a:t>Các mẫu có hash từ 700 đến 849 (22,826 dòng) dùng để tinh chỉnh siêu tham số.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Test (15%): </a:t>
            </a:r>
            <a:r>
              <a:rPr>
                <a:solidFill>
                  <a:srgbClr val="333333"/>
                </a:solidFill>
              </a:rPr>
              <a:t>Các mẫu có hash &gt;= 850 (22,812 dòng) dùng để đánh giá độc lập khách quan.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19. Huấn luyện và Tinh chỉnh Siêu tham số (Model Tuning)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20/28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THUẬT TOÁN LOGISTIC REGRESSION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Ưu thế trên Big Data: </a:t>
            </a:r>
            <a:r>
              <a:rPr>
                <a:solidFill>
                  <a:srgbClr val="333333"/>
                </a:solidFill>
              </a:rPr>
              <a:t>Khả năng mở rộng phân tán cực tốt, hội tụ nhanh với không gian đặc trưng lớn (32k chiều).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Hàm mất mát: </a:t>
            </a:r>
            <a:r>
              <a:rPr>
                <a:solidFill>
                  <a:srgbClr val="333333"/>
                </a:solidFill>
              </a:rPr>
              <a:t>Cross-entropy kết hợp hàm kích hoạt Sigmoid đưa ra xác suất dự đoán P(Positive).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Chính quy hóa L2: </a:t>
            </a:r>
            <a:r>
              <a:rPr>
                <a:solidFill>
                  <a:srgbClr val="333333"/>
                </a:solidFill>
              </a:rPr>
              <a:t>Áp dụng hệ số phạt Ridge (L2 penalty) để chống Overfitting khi số lượng đặc trưng lớn.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KẾT QUẢ TUNING TRÊN TẬP VALIDATION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Thử nghiệm regParam = 0.01: </a:t>
            </a:r>
            <a:r>
              <a:rPr>
                <a:solidFill>
                  <a:srgbClr val="333333"/>
                </a:solidFill>
              </a:rPr>
              <a:t>Validation Macro-F1: 0.7363 | Thời gian Fit: 12.22s.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Thử nghiệm regParam = 0.1: </a:t>
            </a:r>
            <a:r>
              <a:rPr>
                <a:solidFill>
                  <a:srgbClr val="333333"/>
                </a:solidFill>
              </a:rPr>
              <a:t>Validation Macro-F1: 0.7522 | Thời gian Fit: 7.23s.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Đối chứng Naive Bayes: </a:t>
            </a:r>
            <a:r>
              <a:rPr>
                <a:solidFill>
                  <a:srgbClr val="333333"/>
                </a:solidFill>
              </a:rPr>
              <a:t>Validation Macro-F1: 0.7244 | Thời gian Fit: 3.70s.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Mô hình được chọn: </a:t>
            </a:r>
            <a:r>
              <a:rPr>
                <a:solidFill>
                  <a:srgbClr val="333333"/>
                </a:solidFill>
              </a:rPr>
              <a:t>Logistic Regression với regParam = 0.1 đạt F1 cao nhất và thời gian huấn luyện tối ưu nhất.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20. Kết quả Đánh giá Mô hình trên Tập Kiểm thử (Test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21/28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40745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463040"/>
            <a:ext cx="539496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Nhận xét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Baseline (Đa số)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50.49%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0.3355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Mức sàn ngẫu nhiên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72.44%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0.7244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Mô hình đối chứng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Logistic Regression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74.75%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0.7475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Tối ưu và cân bằng nhất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F4E79"/>
                </a:solidFill>
              </a:defRPr>
            </a:pPr>
            <a:r>
              <a:t>PHÂN TÍCH MA TRẬN NHẦM LẪN: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Độ chính xác cao: </a:t>
            </a:r>
            <a:r>
              <a:rPr>
                <a:solidFill>
                  <a:srgbClr val="333333"/>
                </a:solidFill>
              </a:rPr>
              <a:t>Mô hình phân loại đúng 8,465 mẫu tiêu cực (TN) và 8,586 mẫu tích cực (TP).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Cân bằng tuyệt đối: </a:t>
            </a:r>
            <a:r>
              <a:rPr>
                <a:solidFill>
                  <a:srgbClr val="333333"/>
                </a:solidFill>
              </a:rPr>
              <a:t>Tỷ lệ dự đoán đúng hai lớp đồng đều nhau (~74.8%), chứng minh mô hình không bị thiên vị hay lệch lớp.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21. Đo lường Hiệu năng Bộ nhớ đệm (Spark Caching Benchmark)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22/28</a:t>
            </a:r>
          </a:p>
        </p:txBody>
      </p:sp>
      <p:pic>
        <p:nvPicPr>
          <p:cNvPr id="5" name="Picture 4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6686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Ý NGHĨA CỦA SPARK CACHE()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chế In-memory: </a:t>
            </a:r>
            <a:r>
              <a:rPr>
                <a:solidFill>
                  <a:srgbClr val="333333"/>
                </a:solidFill>
              </a:rPr>
              <a:t>Khi gọi .cache(), kết quả tính toán của DataFrame được lưu trữ trực tiếp trong bộ nhớ RAM của Worker nodes.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Tránh tính toán lại (Recompute): </a:t>
            </a:r>
            <a:r>
              <a:rPr>
                <a:solidFill>
                  <a:srgbClr val="333333"/>
                </a:solidFill>
              </a:rPr>
              <a:t>Các lượt truy vấn thứ 2 và thứ 3 đọc thẳng từ RAM, không cần quét lại từ đĩa hay lặp lại các phép biến đổi rườm rà.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Khuyến nghị vận hành: </a:t>
            </a:r>
            <a:r>
              <a:rPr>
                <a:solidFill>
                  <a:srgbClr val="333333"/>
                </a:solidFill>
              </a:rPr>
              <a:t>Nên áp dụng Caching cho các DataFrame được tái sử dụng nhiều lần (như trong huấn luyện lặp ML) và giải phóng bằng unpersist() ngay khi hoàn tất.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22. Minh chứng Giao diện Desktop Dashboard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23/28</a:t>
            </a:r>
          </a:p>
        </p:txBody>
      </p:sp>
      <p:pic>
        <p:nvPicPr>
          <p:cNvPr id="5" name="Picture 4" descr="g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9804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TÍNH NĂNG TRỌNG TÂM TRÊN GUI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Chuyển đổi nguồn linh hoạt: </a:t>
            </a:r>
            <a:r>
              <a:rPr>
                <a:solidFill>
                  <a:srgbClr val="333333"/>
                </a:solidFill>
              </a:rPr>
              <a:t>Hỗ trợ chọn đọc dữ liệu từ Local File System hoặc Hadoop HDFS URI chỉ bằng 1 cú nhấp chuột.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Điều khiển Pipeline đa luồng: </a:t>
            </a:r>
            <a:r>
              <a:rPr>
                <a:solidFill>
                  <a:srgbClr val="333333"/>
                </a:solidFill>
              </a:rPr>
              <a:t>Chạy độc lập từng bước hoặc chạy toàn bộ (Run All) mà không làm đóng băng giao diện người dùng.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KPI Summary Cards: </a:t>
            </a:r>
            <a:r>
              <a:rPr>
                <a:solidFill>
                  <a:srgbClr val="333333"/>
                </a:solidFill>
              </a:rPr>
              <a:t>Hiển thị tổng dòng (1.6M), Accuracy 74.75%, Macro-F1 0.7475 ngay trên màn hình chính.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Live Inference: </a:t>
            </a:r>
            <a:r>
              <a:rPr>
                <a:solidFill>
                  <a:srgbClr val="333333"/>
                </a:solidFill>
              </a:rPr>
              <a:t>Cho phép nhập câu tweet tiếng Anh bất kỳ và suy luận cảm xúc trực tiếp trong thời gian thực.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23. Kiểm thử Tự động &amp; Điều phối Apache Airflow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24/28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KIỂM THỬ TỰ ĐỘNG (13/13 UNIT TESTS)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Phạm vi bảo vệ toàn diện: </a:t>
            </a:r>
            <a:r>
              <a:rPr>
                <a:solidFill>
                  <a:srgbClr val="333333"/>
                </a:solidFill>
              </a:rPr>
              <a:t>Kiểm thử các module làm sạch văn bản, trích xuất đặc trưng NLP, huấn luyện ML, benchmark, GUI và sinh báo cáo.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Chạy nhanh và độc lập: </a:t>
            </a:r>
            <a:r>
              <a:rPr>
                <a:solidFill>
                  <a:srgbClr val="333333"/>
                </a:solidFill>
              </a:rPr>
              <a:t>Sử dụng synthetic smoke-test data giúp hoàn thành bộ test chỉ trong 0.04 giây mà không cần cụm nặng.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quả thực tế: </a:t>
            </a:r>
            <a:r>
              <a:rPr>
                <a:solidFill>
                  <a:srgbClr val="333333"/>
                </a:solidFill>
              </a:rPr>
              <a:t>13/13 tests PASSED 100%, đảm bảo hệ thống hoàn toàn sạch lỗi hồi quy (regression).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ĐIỀU PHỐI APACHE AIRFLOW (9 TASKS)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DAG twitter_sentiment140_pipeline: </a:t>
            </a:r>
            <a:r>
              <a:rPr>
                <a:solidFill>
                  <a:srgbClr val="333333"/>
                </a:solidFill>
              </a:rPr>
              <a:t>Chuỗi 9 tác vụ liên hoàn tự động hóa toàn bộ luồng công việc từ thu thập đến xuất báo cáo.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Kiểm tra chéo &amp; HDFS: </a:t>
            </a:r>
            <a:r>
              <a:rPr>
                <a:solidFill>
                  <a:srgbClr val="333333"/>
                </a:solidFill>
              </a:rPr>
              <a:t>Tự động xác thực file thô 1.6M dòng, kiểm tra trạng thái IPC port 8020 của NameNode và nạp HDFS.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Xác thực Artifacts: </a:t>
            </a:r>
            <a:r>
              <a:rPr>
                <a:solidFill>
                  <a:srgbClr val="333333"/>
                </a:solidFill>
              </a:rPr>
              <a:t>Task verify_manifest_artifacts bảo đảm mọi biểu đồ, bảng số liệu và model được xuất toàn vẹn.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24. Tiến độ Thực hiện &amp; Sơ đồ Gantt Chart Đồ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25/28</a:t>
            </a:r>
          </a:p>
        </p:txBody>
      </p:sp>
      <p:pic>
        <p:nvPicPr>
          <p:cNvPr id="5" name="Picture 4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34424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63040"/>
            <a:ext cx="411480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F4E79"/>
                </a:solidFill>
              </a:defRPr>
            </a:pPr>
            <a:r>
              <a:t>CÁC GIAI ĐOẠN TRIỂN KHAI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GĐ 1 (01/08 - 14/08): </a:t>
            </a:r>
            <a:r>
              <a:rPr>
                <a:solidFill>
                  <a:srgbClr val="333333"/>
                </a:solidFill>
              </a:rPr>
              <a:t>Khảo sát Sentiment140, dựng hạ tầng Docker HDFS.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GĐ 2 (15/08 - 28/08): </a:t>
            </a:r>
            <a:r>
              <a:rPr>
                <a:solidFill>
                  <a:srgbClr val="333333"/>
                </a:solidFill>
              </a:rPr>
              <a:t>Tiền xử lý văn bản, chuyển Parquet, Spark SQL EDA.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GĐ 3 (29/08 - 15/09): </a:t>
            </a:r>
            <a:r>
              <a:rPr>
                <a:solidFill>
                  <a:srgbClr val="333333"/>
                </a:solidFill>
              </a:rPr>
              <a:t>Xây dựng MLlib Pipeline, chống rò rỉ, tuning mô hình.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GĐ 4 (16/09 - 28/09): </a:t>
            </a:r>
            <a:r>
              <a:rPr>
                <a:solidFill>
                  <a:srgbClr val="333333"/>
                </a:solidFill>
              </a:rPr>
              <a:t>Phát triển Tkinter GUI, xây dựng Airflow DAG 9 tasks.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Nghiệm thu (29/09 - 15/10): </a:t>
            </a:r>
            <a:r>
              <a:rPr>
                <a:solidFill>
                  <a:srgbClr val="333333"/>
                </a:solidFill>
              </a:rPr>
              <a:t>Unit Tests 13/13, hoàn thiện Báo cáo &amp; Slide bảo vệ.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25. Phân công Công việc và Đóng góp của Thành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26/28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VÕ MINH CẢNH (MSSV: 2001230065)</a:t>
            </a:r>
          </a:p>
          <a:p>
            <a:pPr>
              <a:spcAft>
                <a:spcPts val="1000"/>
              </a:spcAft>
              <a:defRPr b="1" sz="1100">
                <a:solidFill>
                  <a:srgbClr val="2E75B6"/>
                </a:solidFill>
              </a:defRPr>
            </a:pPr>
            <a:r>
              <a:t>Trưởng nhóm  |  Phụ trách Xử lý &amp; Học máy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1: </a:t>
            </a:r>
            <a:r>
              <a:rPr>
                <a:solidFill>
                  <a:srgbClr val="333333"/>
                </a:solidFill>
              </a:rPr>
              <a:t>Cài đặt môi trường Python, PySpark; thiết lập cấu trúc mã nguồn dự án.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2: </a:t>
            </a:r>
            <a:r>
              <a:rPr>
                <a:solidFill>
                  <a:srgbClr val="333333"/>
                </a:solidFill>
              </a:rPr>
              <a:t>Viết module làm sạch văn bản (cleaning.py), xử lý regex và chuẩn hóa Parquet.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3: </a:t>
            </a:r>
            <a:r>
              <a:rPr>
                <a:solidFill>
                  <a:srgbClr val="333333"/>
                </a:solidFill>
              </a:rPr>
              <a:t>Xây dựng Pipeline Spark MLlib (TF-IDF + Logistic Regression), tuning siêu tham số.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4: </a:t>
            </a:r>
            <a:r>
              <a:rPr>
                <a:solidFill>
                  <a:srgbClr val="333333"/>
                </a:solidFill>
              </a:rPr>
              <a:t>Lập trình giao diện Desktop GUI demo, viết bộ Unit Tests và kịch bản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HỒ THỊ THANH NHÃ (MSSV: 2001230592)</a:t>
            </a:r>
          </a:p>
          <a:p>
            <a:pPr>
              <a:spcAft>
                <a:spcPts val="1000"/>
              </a:spcAft>
              <a:defRPr b="1" sz="1100">
                <a:solidFill>
                  <a:srgbClr val="2E75B6"/>
                </a:solidFill>
              </a:defRPr>
            </a:pPr>
            <a:r>
              <a:t>Thành viên  |  Phụ trách Hạ tầng &amp; Phân tích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1: </a:t>
            </a:r>
            <a:r>
              <a:rPr>
                <a:solidFill>
                  <a:srgbClr val="333333"/>
                </a:solidFill>
              </a:rPr>
              <a:t>Khảo sát kiến trúc Hadoop HDFS, cấu hình NameNode/DataNode Docker.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2: </a:t>
            </a:r>
            <a:r>
              <a:rPr>
                <a:solidFill>
                  <a:srgbClr val="333333"/>
                </a:solidFill>
              </a:rPr>
              <a:t>Nạp dữ liệu vào HDFS; viết các truy vấn Spark SQL thống kê hành vi (EDA).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3: </a:t>
            </a:r>
            <a:r>
              <a:rPr>
                <a:solidFill>
                  <a:srgbClr val="333333"/>
                </a:solidFill>
              </a:rPr>
              <a:t>Huấn luyện mô hình đối chứng Naive Bayes, thực hiện Benchmark Spark Cache.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4: </a:t>
            </a:r>
            <a:r>
              <a:rPr>
                <a:solidFill>
                  <a:srgbClr val="333333"/>
                </a:solidFill>
              </a:rPr>
              <a:t>Thực nghiệm so sánh lưu trữ CSV vs Parquet; hoàn thiện tài liệu báo cáo cuối kỳ.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26. Khó khăn Kỹ thuật Đã Giải quyết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27/28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CÁC KHÓ KHĂN KỸ THUẬT ĐÃ VƯỢT QUA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Lỗi Hadoop Native trên Windows: </a:t>
            </a:r>
            <a:r>
              <a:rPr>
                <a:solidFill>
                  <a:srgbClr val="333333"/>
                </a:solidFill>
              </a:rPr>
              <a:t>Giải quyết triệt để bằng cách đóng gói cụm HDFS vào Docker Linux container chuẩn.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Rò rỉ dữ liệu (Data Leakage): </a:t>
            </a:r>
            <a:r>
              <a:rPr>
                <a:solidFill>
                  <a:srgbClr val="333333"/>
                </a:solidFill>
              </a:rPr>
              <a:t>Khử sạch 2,361 nhóm câu trùng văn bản khác nhãn và dùng hàm băm xác định để phân tách tập.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Tràn bộ nhớ đệm JVM: </a:t>
            </a:r>
            <a:r>
              <a:rPr>
                <a:solidFill>
                  <a:srgbClr val="333333"/>
                </a:solidFill>
              </a:rPr>
              <a:t>Điều chỉnh cấu hình shuffle partitions và cấp phát heap RAM hợp lý.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CÁC ĐỊNH HƯỚNG PHÁT TRIỂN TIẾP THEO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Tích hợp Streaming Path: </a:t>
            </a:r>
            <a:r>
              <a:rPr>
                <a:solidFill>
                  <a:srgbClr val="333333"/>
                </a:solidFill>
              </a:rPr>
              <a:t>Kết hợp Apache Kafka và Spark Structured Streaming để nhận và phân loại luồng tweet theo thời gian thực (đạt Lambda Architecture).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Bổ sung đặc trưng N-gram: </a:t>
            </a:r>
            <a:r>
              <a:rPr>
                <a:solidFill>
                  <a:srgbClr val="333333"/>
                </a:solidFill>
              </a:rPr>
              <a:t>Tích hợp NGram(n=2) để phân biệt các cụm từ đảo ngữ như 'not good', 'never like'.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Nâng cấp Web Dashboard: </a:t>
            </a:r>
            <a:r>
              <a:rPr>
                <a:solidFill>
                  <a:srgbClr val="333333"/>
                </a:solidFill>
              </a:rPr>
              <a:t>Chuyển đổi giao diện Tkinter sang nền tảng Web tương tác hiện đại bằng Streamlit / Plotly.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3C64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FFFFFF"/>
                </a:solidFill>
              </a:defRPr>
            </a:pPr>
            <a:r>
              <a:t>KẾT LUẬN &amp; ĐÁNH GIÁ ĐỒ ÁN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Hoàn thành 100% mục tiêu: </a:t>
            </a:r>
            <a:r>
              <a:rPr>
                <a:solidFill>
                  <a:srgbClr val="333333"/>
                </a:solidFill>
              </a:rPr>
              <a:t>Xây dựng thành công Big Data Pipeline phân tán xử lý 1.6 triệu tweet từ đầu đến cuối.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quả mô hình vượt trội: </a:t>
            </a:r>
            <a:r>
              <a:rPr>
                <a:solidFill>
                  <a:srgbClr val="333333"/>
                </a:solidFill>
              </a:rPr>
              <a:t>Logistic Regression đạt Accuracy 74.75% và Macro-F1 0.7475, suy luận cực nhanh 1.06s cho 22k mẫu.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Chứng minh ưu thế Big Data: </a:t>
            </a:r>
            <a:r>
              <a:rPr>
                <a:solidFill>
                  <a:srgbClr val="333333"/>
                </a:solidFill>
              </a:rPr>
              <a:t>Định dạng Parquet nhanh gấp 37.8 lần CSV thô; Spark Cache tối ưu hóa truy vấn lặp lại vượt bậc.</a:t>
            </a:r>
          </a:p>
          <a:p>
            <a:pPr>
              <a:spcAft>
                <a:spcPts val="1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Sẵn sàng ứng dụng thực tế: </a:t>
            </a:r>
            <a:r>
              <a:rPr>
                <a:solidFill>
                  <a:srgbClr val="333333"/>
                </a:solidFill>
              </a:rPr>
              <a:t>Giao diện Desktop GUI trực quan, bộ 13 Unit Tests bảo đảm an toàn hệ thống.</a:t>
            </a:r>
          </a:p>
          <a:p>
            <a:pPr algn="ctr">
              <a:defRPr b="1" sz="1500">
                <a:solidFill>
                  <a:srgbClr val="92C5DE"/>
                </a:solidFill>
              </a:defRPr>
            </a:pPr>
            <a:r>
              <a:t>XIN CHÂN THÀNH CẢM ƠN THẦY CÔ VÀ HỘI ĐỒNG ĐÃ LẮNG NGHE!</a:t>
            </a:r>
            <a:br/>
            <a:r>
              <a:t>CHÚNG EM XIN SẴN SÀNG BƯỚC VÀO PHẦN TRẢ LỜI CÂU HỎI &amp;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